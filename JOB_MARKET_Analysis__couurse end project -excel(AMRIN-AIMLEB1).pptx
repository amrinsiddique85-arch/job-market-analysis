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6" r:id="rId4"/>
  </p:sldMasterIdLst>
  <p:notesMasterIdLst>
    <p:notesMasterId r:id="rId23"/>
  </p:notesMasterIdLst>
  <p:handoutMasterIdLst>
    <p:handoutMasterId r:id="rId24"/>
  </p:handoutMasterIdLst>
  <p:sldIdLst>
    <p:sldId id="256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3" r:id="rId17"/>
    <p:sldId id="294" r:id="rId18"/>
    <p:sldId id="264" r:id="rId19"/>
    <p:sldId id="281" r:id="rId20"/>
    <p:sldId id="262" r:id="rId21"/>
    <p:sldId id="27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6C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86432" autoAdjust="0"/>
  </p:normalViewPr>
  <p:slideViewPr>
    <p:cSldViewPr snapToGrid="0">
      <p:cViewPr varScale="1">
        <p:scale>
          <a:sx n="60" d="100"/>
          <a:sy n="60" d="100"/>
        </p:scale>
        <p:origin x="114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54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Postings</c:v>
                </c:pt>
              </c:strCache>
            </c:strRef>
          </c:tx>
          <c:spPr>
            <a:solidFill>
              <a:srgbClr val="4AB1FE"/>
            </a:solidFill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EAF2FB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Liberty Healthcare</c:v>
                </c:pt>
                <c:pt idx="1">
                  <c:v>The Job Network</c:v>
                </c:pt>
                <c:pt idx="2">
                  <c:v>J. Galt</c:v>
                </c:pt>
                <c:pt idx="3">
                  <c:v>TEKsystems</c:v>
                </c:pt>
                <c:pt idx="4">
                  <c:v>Lowe's</c:v>
                </c:pt>
                <c:pt idx="5">
                  <c:v>Capital One</c:v>
                </c:pt>
                <c:pt idx="6">
                  <c:v>Ingersoll Rand</c:v>
                </c:pt>
                <c:pt idx="7">
                  <c:v>Cogent Comm.</c:v>
                </c:pt>
                <c:pt idx="8">
                  <c:v>Insight Global</c:v>
                </c:pt>
                <c:pt idx="9">
                  <c:v>Dice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341</c:v>
                </c:pt>
                <c:pt idx="1">
                  <c:v>318</c:v>
                </c:pt>
                <c:pt idx="2">
                  <c:v>205</c:v>
                </c:pt>
                <c:pt idx="3">
                  <c:v>196</c:v>
                </c:pt>
                <c:pt idx="4">
                  <c:v>174</c:v>
                </c:pt>
                <c:pt idx="5">
                  <c:v>166</c:v>
                </c:pt>
                <c:pt idx="6">
                  <c:v>165</c:v>
                </c:pt>
                <c:pt idx="7">
                  <c:v>155</c:v>
                </c:pt>
                <c:pt idx="8">
                  <c:v>138</c:v>
                </c:pt>
                <c:pt idx="9">
                  <c:v>131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11-4D51-9E20-EB1E6A5D783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2B4A75"/>
            </a:solidFill>
          </a:ln>
        </c:spPr>
        <c:txPr>
          <a:bodyPr/>
          <a:lstStyle/>
          <a:p>
            <a:pPr>
              <a:defRPr sz="1000">
                <a:solidFill>
                  <a:srgbClr val="EAF2FB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00">
          <a:solidFill>
            <a:srgbClr val="EAF2FB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Postings</c:v>
                </c:pt>
              </c:strCache>
            </c:strRef>
          </c:tx>
          <c:spPr>
            <a:solidFill>
              <a:srgbClr val="00C4B6"/>
            </a:solidFill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EAF2FB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New York</c:v>
                </c:pt>
                <c:pt idx="1">
                  <c:v>Houston</c:v>
                </c:pt>
                <c:pt idx="2">
                  <c:v>Chicago</c:v>
                </c:pt>
                <c:pt idx="3">
                  <c:v>Dallas</c:v>
                </c:pt>
                <c:pt idx="4">
                  <c:v>Atlanta</c:v>
                </c:pt>
                <c:pt idx="5">
                  <c:v>Phoenix</c:v>
                </c:pt>
                <c:pt idx="6">
                  <c:v>Boston</c:v>
                </c:pt>
                <c:pt idx="7">
                  <c:v>Charlotte</c:v>
                </c:pt>
                <c:pt idx="8">
                  <c:v>Austin</c:v>
                </c:pt>
                <c:pt idx="9">
                  <c:v>Los Angeles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866</c:v>
                </c:pt>
                <c:pt idx="1">
                  <c:v>565</c:v>
                </c:pt>
                <c:pt idx="2">
                  <c:v>565</c:v>
                </c:pt>
                <c:pt idx="3">
                  <c:v>457</c:v>
                </c:pt>
                <c:pt idx="4">
                  <c:v>438</c:v>
                </c:pt>
                <c:pt idx="5">
                  <c:v>367</c:v>
                </c:pt>
                <c:pt idx="6">
                  <c:v>365</c:v>
                </c:pt>
                <c:pt idx="7">
                  <c:v>353</c:v>
                </c:pt>
                <c:pt idx="8">
                  <c:v>344</c:v>
                </c:pt>
                <c:pt idx="9">
                  <c:v>313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61-4A6A-9B86-4E69CF557F4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2B4A75"/>
            </a:solidFill>
          </a:ln>
        </c:spPr>
        <c:txPr>
          <a:bodyPr/>
          <a:lstStyle/>
          <a:p>
            <a:pPr>
              <a:defRPr sz="900">
                <a:solidFill>
                  <a:srgbClr val="EAF2FB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solidFill>
            <a:srgbClr val="EAF2FB"/>
          </a:solidFill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Postings</c:v>
                </c:pt>
              </c:strCache>
            </c:strRef>
          </c:tx>
          <c:spPr>
            <a:solidFill>
              <a:srgbClr val="F2A541"/>
            </a:solidFill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EAF2FB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Internship</c:v>
                </c:pt>
                <c:pt idx="1">
                  <c:v>Entry</c:v>
                </c:pt>
                <c:pt idx="2">
                  <c:v>Associate</c:v>
                </c:pt>
                <c:pt idx="3">
                  <c:v>Mid-Senior</c:v>
                </c:pt>
                <c:pt idx="4">
                  <c:v>Director</c:v>
                </c:pt>
                <c:pt idx="5">
                  <c:v>Executive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469</c:v>
                </c:pt>
                <c:pt idx="1">
                  <c:v>11881</c:v>
                </c:pt>
                <c:pt idx="2">
                  <c:v>3204</c:v>
                </c:pt>
                <c:pt idx="3">
                  <c:v>13499</c:v>
                </c:pt>
                <c:pt idx="4">
                  <c:v>1192</c:v>
                </c:pt>
                <c:pt idx="5">
                  <c:v>395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44-4A55-AC33-E0ED5C9FC77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2B4A75"/>
            </a:solidFill>
          </a:ln>
        </c:spPr>
        <c:txPr>
          <a:bodyPr/>
          <a:lstStyle/>
          <a:p>
            <a:pPr>
              <a:defRPr sz="1000">
                <a:solidFill>
                  <a:srgbClr val="EAF2FB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00">
          <a:solidFill>
            <a:srgbClr val="EAF2FB"/>
          </a:solidFill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percent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Full-time</c:v>
                </c:pt>
              </c:strCache>
            </c:strRef>
          </c:tx>
          <c:spPr>
            <a:solidFill>
              <a:srgbClr val="5C86FF"/>
            </a:solidFill>
          </c:spPr>
          <c:invertIfNegative val="0"/>
          <c:cat>
            <c:strRef>
              <c:f>Sheet1!$A$2:$A$8</c:f>
              <c:strCache>
                <c:ptCount val="7"/>
                <c:pt idx="0">
                  <c:v>Mid-Senior</c:v>
                </c:pt>
                <c:pt idx="1">
                  <c:v>Entry</c:v>
                </c:pt>
                <c:pt idx="2">
                  <c:v>Not specified</c:v>
                </c:pt>
                <c:pt idx="3">
                  <c:v>Associate</c:v>
                </c:pt>
                <c:pt idx="4">
                  <c:v>Director</c:v>
                </c:pt>
                <c:pt idx="5">
                  <c:v>Internship</c:v>
                </c:pt>
                <c:pt idx="6">
                  <c:v>Executive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10938</c:v>
                </c:pt>
                <c:pt idx="1">
                  <c:v>9466</c:v>
                </c:pt>
                <c:pt idx="2">
                  <c:v>7319</c:v>
                </c:pt>
                <c:pt idx="3">
                  <c:v>2479</c:v>
                </c:pt>
                <c:pt idx="4">
                  <c:v>1118</c:v>
                </c:pt>
                <c:pt idx="5">
                  <c:v>249</c:v>
                </c:pt>
                <c:pt idx="6">
                  <c:v>370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D6F-4EA0-9FD7-4F4F8629F0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Contract</c:v>
                </c:pt>
              </c:strCache>
            </c:strRef>
          </c:tx>
          <c:spPr>
            <a:solidFill>
              <a:srgbClr val="00C4B6"/>
            </a:solidFill>
          </c:spPr>
          <c:invertIfNegative val="0"/>
          <c:cat>
            <c:strRef>
              <c:f>Sheet1!$A$2:$A$8</c:f>
              <c:strCache>
                <c:ptCount val="7"/>
                <c:pt idx="0">
                  <c:v>Mid-Senior</c:v>
                </c:pt>
                <c:pt idx="1">
                  <c:v>Entry</c:v>
                </c:pt>
                <c:pt idx="2">
                  <c:v>Not specified</c:v>
                </c:pt>
                <c:pt idx="3">
                  <c:v>Associate</c:v>
                </c:pt>
                <c:pt idx="4">
                  <c:v>Director</c:v>
                </c:pt>
                <c:pt idx="5">
                  <c:v>Internship</c:v>
                </c:pt>
                <c:pt idx="6">
                  <c:v>Executive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1649</c:v>
                </c:pt>
                <c:pt idx="1">
                  <c:v>542</c:v>
                </c:pt>
                <c:pt idx="2">
                  <c:v>1162</c:v>
                </c:pt>
                <c:pt idx="3">
                  <c:v>445</c:v>
                </c:pt>
                <c:pt idx="4">
                  <c:v>42</c:v>
                </c:pt>
                <c:pt idx="5">
                  <c:v>2</c:v>
                </c:pt>
                <c:pt idx="6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D6F-4EA0-9FD7-4F4F8629F0E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Part-time</c:v>
                </c:pt>
              </c:strCache>
            </c:strRef>
          </c:tx>
          <c:spPr>
            <a:solidFill>
              <a:srgbClr val="F2A541"/>
            </a:solidFill>
          </c:spPr>
          <c:invertIfNegative val="0"/>
          <c:cat>
            <c:strRef>
              <c:f>Sheet1!$A$2:$A$8</c:f>
              <c:strCache>
                <c:ptCount val="7"/>
                <c:pt idx="0">
                  <c:v>Mid-Senior</c:v>
                </c:pt>
                <c:pt idx="1">
                  <c:v>Entry</c:v>
                </c:pt>
                <c:pt idx="2">
                  <c:v>Not specified</c:v>
                </c:pt>
                <c:pt idx="3">
                  <c:v>Associate</c:v>
                </c:pt>
                <c:pt idx="4">
                  <c:v>Director</c:v>
                </c:pt>
                <c:pt idx="5">
                  <c:v>Internship</c:v>
                </c:pt>
                <c:pt idx="6">
                  <c:v>Executive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672</c:v>
                </c:pt>
                <c:pt idx="1">
                  <c:v>1660</c:v>
                </c:pt>
                <c:pt idx="2">
                  <c:v>618</c:v>
                </c:pt>
                <c:pt idx="3">
                  <c:v>107</c:v>
                </c:pt>
                <c:pt idx="4">
                  <c:v>23</c:v>
                </c:pt>
                <c:pt idx="5">
                  <c:v>48</c:v>
                </c:pt>
                <c:pt idx="6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D6F-4EA0-9FD7-4F4F8629F0E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Other types</c:v>
                </c:pt>
              </c:strCache>
            </c:strRef>
          </c:tx>
          <c:spPr>
            <a:solidFill>
              <a:srgbClr val="B56CF0"/>
            </a:solidFill>
          </c:spPr>
          <c:invertIfNegative val="0"/>
          <c:cat>
            <c:strRef>
              <c:f>Sheet1!$A$2:$A$8</c:f>
              <c:strCache>
                <c:ptCount val="7"/>
                <c:pt idx="0">
                  <c:v>Mid-Senior</c:v>
                </c:pt>
                <c:pt idx="1">
                  <c:v>Entry</c:v>
                </c:pt>
                <c:pt idx="2">
                  <c:v>Not specified</c:v>
                </c:pt>
                <c:pt idx="3">
                  <c:v>Associate</c:v>
                </c:pt>
                <c:pt idx="4">
                  <c:v>Director</c:v>
                </c:pt>
                <c:pt idx="5">
                  <c:v>Internship</c:v>
                </c:pt>
                <c:pt idx="6">
                  <c:v>Executive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240</c:v>
                </c:pt>
                <c:pt idx="1">
                  <c:v>213</c:v>
                </c:pt>
                <c:pt idx="2">
                  <c:v>261</c:v>
                </c:pt>
                <c:pt idx="3">
                  <c:v>173</c:v>
                </c:pt>
                <c:pt idx="4">
                  <c:v>9</c:v>
                </c:pt>
                <c:pt idx="5">
                  <c:v>170</c:v>
                </c:pt>
                <c:pt idx="6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D6F-4EA0-9FD7-4F4F8629F0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2B4A75"/>
            </a:solidFill>
          </a:ln>
        </c:spPr>
        <c:txPr>
          <a:bodyPr/>
          <a:lstStyle/>
          <a:p>
            <a:pPr>
              <a:defRPr sz="1000">
                <a:solidFill>
                  <a:srgbClr val="EAF2FB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orientation val="minMax"/>
        </c:scaling>
        <c:delete val="0"/>
        <c:axPos val="t"/>
        <c:majorGridlines>
          <c:spPr>
            <a:ln>
              <a:solidFill>
                <a:srgbClr val="2B4A75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EAF2FB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EAF2FB"/>
              </a:solidFill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000">
          <a:solidFill>
            <a:srgbClr val="EAF2FB"/>
          </a:solidFill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salary</c:v>
                </c:pt>
              </c:strCache>
            </c:strRef>
          </c:tx>
          <c:spPr>
            <a:solidFill>
              <a:srgbClr val="F26B7A"/>
            </a:solidFill>
          </c:spPr>
          <c:invertIfNegative val="0"/>
          <c:dLbls>
            <c:numFmt formatCode="\$#,##0,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EAF2FB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BigLaw Partner (1)</c:v>
                </c:pt>
                <c:pt idx="1">
                  <c:v>BigLaw Partner (2)</c:v>
                </c:pt>
                <c:pt idx="2">
                  <c:v>Oral Surgeon</c:v>
                </c:pt>
                <c:pt idx="3">
                  <c:v>CISO</c:v>
                </c:pt>
                <c:pt idx="4">
                  <c:v>Dermatologist</c:v>
                </c:pt>
                <c:pt idx="5">
                  <c:v>VP Client Relations</c:v>
                </c:pt>
                <c:pt idx="6">
                  <c:v>SEVP of Retail</c:v>
                </c:pt>
                <c:pt idx="7">
                  <c:v>Quant Researcher</c:v>
                </c:pt>
                <c:pt idx="8">
                  <c:v>Forensic Acct. Partner</c:v>
                </c:pt>
                <c:pt idx="9">
                  <c:v>Dental Territory Sales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925000</c:v>
                </c:pt>
                <c:pt idx="1">
                  <c:v>925000</c:v>
                </c:pt>
                <c:pt idx="2">
                  <c:v>650000</c:v>
                </c:pt>
                <c:pt idx="3">
                  <c:v>631800</c:v>
                </c:pt>
                <c:pt idx="4">
                  <c:v>557500</c:v>
                </c:pt>
                <c:pt idx="5">
                  <c:v>550000.5</c:v>
                </c:pt>
                <c:pt idx="6">
                  <c:v>550000</c:v>
                </c:pt>
                <c:pt idx="7">
                  <c:v>550000</c:v>
                </c:pt>
                <c:pt idx="8">
                  <c:v>525000</c:v>
                </c:pt>
                <c:pt idx="9">
                  <c:v>515000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F5-49BF-9A2A-7620009999B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2B4A75"/>
            </a:solidFill>
          </a:ln>
        </c:spPr>
        <c:txPr>
          <a:bodyPr/>
          <a:lstStyle/>
          <a:p>
            <a:pPr>
              <a:defRPr sz="1000">
                <a:solidFill>
                  <a:srgbClr val="EAF2FB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00">
          <a:solidFill>
            <a:srgbClr val="EAF2FB"/>
          </a:solidFill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salary</c:v>
                </c:pt>
              </c:strCache>
            </c:strRef>
          </c:tx>
          <c:spPr>
            <a:solidFill>
              <a:srgbClr val="B56CF0"/>
            </a:solidFill>
          </c:spPr>
          <c:invertIfNegative val="0"/>
          <c:dLbls>
            <c:numFmt formatCode="\$#,##0,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EAF2FB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Orange Park</c:v>
                </c:pt>
                <c:pt idx="1">
                  <c:v>Wheeling</c:v>
                </c:pt>
                <c:pt idx="2">
                  <c:v>Palm Springs</c:v>
                </c:pt>
                <c:pt idx="3">
                  <c:v>Baldwin Park</c:v>
                </c:pt>
                <c:pt idx="4">
                  <c:v>John Day</c:v>
                </c:pt>
                <c:pt idx="5">
                  <c:v>Phoenix Metro</c:v>
                </c:pt>
                <c:pt idx="6">
                  <c:v>West Virginia</c:v>
                </c:pt>
                <c:pt idx="7">
                  <c:v>Akron</c:v>
                </c:pt>
                <c:pt idx="8">
                  <c:v>Maplewood</c:v>
                </c:pt>
                <c:pt idx="9">
                  <c:v>Morgantown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700000</c:v>
                </c:pt>
                <c:pt idx="1">
                  <c:v>460000</c:v>
                </c:pt>
                <c:pt idx="2">
                  <c:v>450000</c:v>
                </c:pt>
                <c:pt idx="3">
                  <c:v>372431</c:v>
                </c:pt>
                <c:pt idx="4">
                  <c:v>350000</c:v>
                </c:pt>
                <c:pt idx="5">
                  <c:v>340000</c:v>
                </c:pt>
                <c:pt idx="6">
                  <c:v>327600</c:v>
                </c:pt>
                <c:pt idx="7">
                  <c:v>304750</c:v>
                </c:pt>
                <c:pt idx="8">
                  <c:v>300000</c:v>
                </c:pt>
                <c:pt idx="9">
                  <c:v>290000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A9-4339-A894-BC449911375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2B4A75"/>
            </a:solidFill>
          </a:ln>
        </c:spPr>
        <c:txPr>
          <a:bodyPr/>
          <a:lstStyle/>
          <a:p>
            <a:pPr>
              <a:defRPr sz="900">
                <a:solidFill>
                  <a:srgbClr val="EAF2FB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solidFill>
            <a:srgbClr val="EAF2FB"/>
          </a:solidFill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Full-time</c:v>
                </c:pt>
                <c:pt idx="1">
                  <c:v>Contract</c:v>
                </c:pt>
                <c:pt idx="2">
                  <c:v>Part-time</c:v>
                </c:pt>
                <c:pt idx="3">
                  <c:v>Other types</c:v>
                </c:pt>
                <c:pt idx="4">
                  <c:v>Total remote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3577</c:v>
                </c:pt>
                <c:pt idx="2">
                  <c:v>4560</c:v>
                </c:pt>
                <c:pt idx="3">
                  <c:v>4739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117-46F1-A217-E7BD83ECDE1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Added</c:v>
                </c:pt>
              </c:strCache>
            </c:strRef>
          </c:tx>
          <c:spPr>
            <a:solidFill>
              <a:srgbClr val="5C86FF"/>
            </a:solidFill>
          </c:spPr>
          <c:invertIfNegative val="0"/>
          <c:dLbls>
            <c:numFmt formatCode="#,##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EAF2FB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Full-time</c:v>
                </c:pt>
                <c:pt idx="1">
                  <c:v>Contract</c:v>
                </c:pt>
                <c:pt idx="2">
                  <c:v>Part-time</c:v>
                </c:pt>
                <c:pt idx="3">
                  <c:v>Other types</c:v>
                </c:pt>
                <c:pt idx="4">
                  <c:v>Total remote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3577</c:v>
                </c:pt>
                <c:pt idx="1">
                  <c:v>983</c:v>
                </c:pt>
                <c:pt idx="2">
                  <c:v>179</c:v>
                </c:pt>
                <c:pt idx="3">
                  <c:v>153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117-46F1-A217-E7BD83ECDE1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F2A541"/>
            </a:solidFill>
          </c:spPr>
          <c:invertIfNegative val="0"/>
          <c:dLbls>
            <c:numFmt formatCode="#,##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EAF2FB"/>
                    </a:solidFill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Full-time</c:v>
                </c:pt>
                <c:pt idx="1">
                  <c:v>Contract</c:v>
                </c:pt>
                <c:pt idx="2">
                  <c:v>Part-time</c:v>
                </c:pt>
                <c:pt idx="3">
                  <c:v>Other types</c:v>
                </c:pt>
                <c:pt idx="4">
                  <c:v>Total remote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4892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117-46F1-A217-E7BD83ECDE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2B4A75"/>
            </a:solidFill>
          </a:ln>
        </c:spPr>
        <c:txPr>
          <a:bodyPr/>
          <a:lstStyle/>
          <a:p>
            <a:pPr>
              <a:defRPr sz="1100">
                <a:solidFill>
                  <a:srgbClr val="EAF2FB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solidFill>
            <a:srgbClr val="EAF2FB"/>
          </a:solidFill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Full-time</c:v>
                </c:pt>
              </c:strCache>
            </c:strRef>
          </c:tx>
          <c:spPr>
            <a:solidFill>
              <a:srgbClr val="5C86FF"/>
            </a:solidFill>
          </c:spPr>
          <c:invertIfNegative val="0"/>
          <c:cat>
            <c:strRef>
              <c:f>Sheet1!$A$2:$A$12</c:f>
              <c:strCache>
                <c:ptCount val="11"/>
                <c:pt idx="0">
                  <c:v>Engineering</c:v>
                </c:pt>
                <c:pt idx="1">
                  <c:v>Healthcare</c:v>
                </c:pt>
                <c:pt idx="2">
                  <c:v>Sales</c:v>
                </c:pt>
                <c:pt idx="3">
                  <c:v>Operations</c:v>
                </c:pt>
                <c:pt idx="4">
                  <c:v>Tech &amp; Data</c:v>
                </c:pt>
                <c:pt idx="5">
                  <c:v>Admin</c:v>
                </c:pt>
                <c:pt idx="6">
                  <c:v>Finance</c:v>
                </c:pt>
                <c:pt idx="7">
                  <c:v>Marketing</c:v>
                </c:pt>
                <c:pt idx="8">
                  <c:v>Legal</c:v>
                </c:pt>
                <c:pt idx="9">
                  <c:v>Education</c:v>
                </c:pt>
                <c:pt idx="10">
                  <c:v>HR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4089</c:v>
                </c:pt>
                <c:pt idx="1">
                  <c:v>2914</c:v>
                </c:pt>
                <c:pt idx="2">
                  <c:v>2912</c:v>
                </c:pt>
                <c:pt idx="3">
                  <c:v>2226</c:v>
                </c:pt>
                <c:pt idx="4">
                  <c:v>1723</c:v>
                </c:pt>
                <c:pt idx="5">
                  <c:v>1354</c:v>
                </c:pt>
                <c:pt idx="6">
                  <c:v>1439</c:v>
                </c:pt>
                <c:pt idx="7">
                  <c:v>803</c:v>
                </c:pt>
                <c:pt idx="8">
                  <c:v>528</c:v>
                </c:pt>
                <c:pt idx="9">
                  <c:v>417</c:v>
                </c:pt>
                <c:pt idx="10">
                  <c:v>401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43-45A4-8838-E3A4D2160EF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Contract</c:v>
                </c:pt>
              </c:strCache>
            </c:strRef>
          </c:tx>
          <c:spPr>
            <a:solidFill>
              <a:srgbClr val="00C4B6"/>
            </a:solidFill>
          </c:spPr>
          <c:invertIfNegative val="0"/>
          <c:cat>
            <c:strRef>
              <c:f>Sheet1!$A$2:$A$12</c:f>
              <c:strCache>
                <c:ptCount val="11"/>
                <c:pt idx="0">
                  <c:v>Engineering</c:v>
                </c:pt>
                <c:pt idx="1">
                  <c:v>Healthcare</c:v>
                </c:pt>
                <c:pt idx="2">
                  <c:v>Sales</c:v>
                </c:pt>
                <c:pt idx="3">
                  <c:v>Operations</c:v>
                </c:pt>
                <c:pt idx="4">
                  <c:v>Tech &amp; Data</c:v>
                </c:pt>
                <c:pt idx="5">
                  <c:v>Admin</c:v>
                </c:pt>
                <c:pt idx="6">
                  <c:v>Finance</c:v>
                </c:pt>
                <c:pt idx="7">
                  <c:v>Marketing</c:v>
                </c:pt>
                <c:pt idx="8">
                  <c:v>Legal</c:v>
                </c:pt>
                <c:pt idx="9">
                  <c:v>Education</c:v>
                </c:pt>
                <c:pt idx="10">
                  <c:v>HR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488</c:v>
                </c:pt>
                <c:pt idx="1">
                  <c:v>420</c:v>
                </c:pt>
                <c:pt idx="2">
                  <c:v>106</c:v>
                </c:pt>
                <c:pt idx="3">
                  <c:v>194</c:v>
                </c:pt>
                <c:pt idx="4">
                  <c:v>763</c:v>
                </c:pt>
                <c:pt idx="5">
                  <c:v>75</c:v>
                </c:pt>
                <c:pt idx="6">
                  <c:v>126</c:v>
                </c:pt>
                <c:pt idx="7">
                  <c:v>105</c:v>
                </c:pt>
                <c:pt idx="8">
                  <c:v>39</c:v>
                </c:pt>
                <c:pt idx="9">
                  <c:v>18</c:v>
                </c:pt>
                <c:pt idx="10">
                  <c:v>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C43-45A4-8838-E3A4D2160EF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Part-time</c:v>
                </c:pt>
              </c:strCache>
            </c:strRef>
          </c:tx>
          <c:spPr>
            <a:solidFill>
              <a:srgbClr val="F2A541"/>
            </a:solidFill>
          </c:spPr>
          <c:invertIfNegative val="0"/>
          <c:cat>
            <c:strRef>
              <c:f>Sheet1!$A$2:$A$12</c:f>
              <c:strCache>
                <c:ptCount val="11"/>
                <c:pt idx="0">
                  <c:v>Engineering</c:v>
                </c:pt>
                <c:pt idx="1">
                  <c:v>Healthcare</c:v>
                </c:pt>
                <c:pt idx="2">
                  <c:v>Sales</c:v>
                </c:pt>
                <c:pt idx="3">
                  <c:v>Operations</c:v>
                </c:pt>
                <c:pt idx="4">
                  <c:v>Tech &amp; Data</c:v>
                </c:pt>
                <c:pt idx="5">
                  <c:v>Admin</c:v>
                </c:pt>
                <c:pt idx="6">
                  <c:v>Finance</c:v>
                </c:pt>
                <c:pt idx="7">
                  <c:v>Marketing</c:v>
                </c:pt>
                <c:pt idx="8">
                  <c:v>Legal</c:v>
                </c:pt>
                <c:pt idx="9">
                  <c:v>Education</c:v>
                </c:pt>
                <c:pt idx="10">
                  <c:v>HR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122</c:v>
                </c:pt>
                <c:pt idx="1">
                  <c:v>407</c:v>
                </c:pt>
                <c:pt idx="2">
                  <c:v>585</c:v>
                </c:pt>
                <c:pt idx="3">
                  <c:v>180</c:v>
                </c:pt>
                <c:pt idx="4">
                  <c:v>16</c:v>
                </c:pt>
                <c:pt idx="5">
                  <c:v>196</c:v>
                </c:pt>
                <c:pt idx="6">
                  <c:v>38</c:v>
                </c:pt>
                <c:pt idx="7">
                  <c:v>46</c:v>
                </c:pt>
                <c:pt idx="8">
                  <c:v>20</c:v>
                </c:pt>
                <c:pt idx="9">
                  <c:v>72</c:v>
                </c:pt>
                <c:pt idx="10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C43-45A4-8838-E3A4D2160EF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Other types</c:v>
                </c:pt>
              </c:strCache>
            </c:strRef>
          </c:tx>
          <c:spPr>
            <a:solidFill>
              <a:srgbClr val="B56CF0"/>
            </a:solidFill>
          </c:spPr>
          <c:invertIfNegative val="0"/>
          <c:cat>
            <c:strRef>
              <c:f>Sheet1!$A$2:$A$12</c:f>
              <c:strCache>
                <c:ptCount val="11"/>
                <c:pt idx="0">
                  <c:v>Engineering</c:v>
                </c:pt>
                <c:pt idx="1">
                  <c:v>Healthcare</c:v>
                </c:pt>
                <c:pt idx="2">
                  <c:v>Sales</c:v>
                </c:pt>
                <c:pt idx="3">
                  <c:v>Operations</c:v>
                </c:pt>
                <c:pt idx="4">
                  <c:v>Tech &amp; Data</c:v>
                </c:pt>
                <c:pt idx="5">
                  <c:v>Admin</c:v>
                </c:pt>
                <c:pt idx="6">
                  <c:v>Finance</c:v>
                </c:pt>
                <c:pt idx="7">
                  <c:v>Marketing</c:v>
                </c:pt>
                <c:pt idx="8">
                  <c:v>Legal</c:v>
                </c:pt>
                <c:pt idx="9">
                  <c:v>Education</c:v>
                </c:pt>
                <c:pt idx="10">
                  <c:v>HR</c:v>
                </c:pt>
              </c:strCache>
            </c: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65</c:v>
                </c:pt>
                <c:pt idx="1">
                  <c:v>77</c:v>
                </c:pt>
                <c:pt idx="2">
                  <c:v>92</c:v>
                </c:pt>
                <c:pt idx="3">
                  <c:v>39</c:v>
                </c:pt>
                <c:pt idx="4">
                  <c:v>54</c:v>
                </c:pt>
                <c:pt idx="5">
                  <c:v>53</c:v>
                </c:pt>
                <c:pt idx="6">
                  <c:v>25</c:v>
                </c:pt>
                <c:pt idx="7">
                  <c:v>66</c:v>
                </c:pt>
                <c:pt idx="8">
                  <c:v>11</c:v>
                </c:pt>
                <c:pt idx="9">
                  <c:v>16</c:v>
                </c:pt>
                <c:pt idx="10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C43-45A4-8838-E3A4D2160E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2B4A75"/>
            </a:solidFill>
          </a:ln>
        </c:spPr>
        <c:txPr>
          <a:bodyPr/>
          <a:lstStyle/>
          <a:p>
            <a:pPr>
              <a:defRPr sz="1000">
                <a:solidFill>
                  <a:srgbClr val="EAF2FB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EAF2FB"/>
              </a:solidFill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000">
          <a:solidFill>
            <a:srgbClr val="EAF2FB"/>
          </a:solidFill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Entry</c:v>
                </c:pt>
              </c:strCache>
            </c:strRef>
          </c:tx>
          <c:spPr>
            <a:solidFill>
              <a:srgbClr val="F2A541"/>
            </a:solidFill>
          </c:spPr>
          <c:invertIfNegative val="0"/>
          <c:cat>
            <c:strRef>
              <c:f>Sheet1!$A$2:$A$12</c:f>
              <c:strCache>
                <c:ptCount val="11"/>
                <c:pt idx="0">
                  <c:v>Engineering</c:v>
                </c:pt>
                <c:pt idx="1">
                  <c:v>Healthcare</c:v>
                </c:pt>
                <c:pt idx="2">
                  <c:v>Sales</c:v>
                </c:pt>
                <c:pt idx="3">
                  <c:v>Operations</c:v>
                </c:pt>
                <c:pt idx="4">
                  <c:v>Tech &amp; Data</c:v>
                </c:pt>
                <c:pt idx="5">
                  <c:v>Admin</c:v>
                </c:pt>
                <c:pt idx="6">
                  <c:v>Finance</c:v>
                </c:pt>
                <c:pt idx="7">
                  <c:v>Marketing</c:v>
                </c:pt>
                <c:pt idx="8">
                  <c:v>Legal</c:v>
                </c:pt>
                <c:pt idx="9">
                  <c:v>Education</c:v>
                </c:pt>
                <c:pt idx="10">
                  <c:v>HR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1972</c:v>
                </c:pt>
                <c:pt idx="1">
                  <c:v>1249</c:v>
                </c:pt>
                <c:pt idx="2">
                  <c:v>1203</c:v>
                </c:pt>
                <c:pt idx="3">
                  <c:v>859</c:v>
                </c:pt>
                <c:pt idx="4">
                  <c:v>400</c:v>
                </c:pt>
                <c:pt idx="5">
                  <c:v>714</c:v>
                </c:pt>
                <c:pt idx="6">
                  <c:v>262</c:v>
                </c:pt>
                <c:pt idx="7">
                  <c:v>204</c:v>
                </c:pt>
                <c:pt idx="8">
                  <c:v>81</c:v>
                </c:pt>
                <c:pt idx="9">
                  <c:v>229</c:v>
                </c:pt>
                <c:pt idx="10">
                  <c:v>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F1-43AB-B278-A1C72755690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Mid-Senior</c:v>
                </c:pt>
              </c:strCache>
            </c:strRef>
          </c:tx>
          <c:spPr>
            <a:solidFill>
              <a:srgbClr val="5C86FF"/>
            </a:solidFill>
          </c:spPr>
          <c:invertIfNegative val="0"/>
          <c:cat>
            <c:strRef>
              <c:f>Sheet1!$A$2:$A$12</c:f>
              <c:strCache>
                <c:ptCount val="11"/>
                <c:pt idx="0">
                  <c:v>Engineering</c:v>
                </c:pt>
                <c:pt idx="1">
                  <c:v>Healthcare</c:v>
                </c:pt>
                <c:pt idx="2">
                  <c:v>Sales</c:v>
                </c:pt>
                <c:pt idx="3">
                  <c:v>Operations</c:v>
                </c:pt>
                <c:pt idx="4">
                  <c:v>Tech &amp; Data</c:v>
                </c:pt>
                <c:pt idx="5">
                  <c:v>Admin</c:v>
                </c:pt>
                <c:pt idx="6">
                  <c:v>Finance</c:v>
                </c:pt>
                <c:pt idx="7">
                  <c:v>Marketing</c:v>
                </c:pt>
                <c:pt idx="8">
                  <c:v>Legal</c:v>
                </c:pt>
                <c:pt idx="9">
                  <c:v>Education</c:v>
                </c:pt>
                <c:pt idx="10">
                  <c:v>HR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1379</c:v>
                </c:pt>
                <c:pt idx="1">
                  <c:v>1238</c:v>
                </c:pt>
                <c:pt idx="2">
                  <c:v>1174</c:v>
                </c:pt>
                <c:pt idx="3">
                  <c:v>906</c:v>
                </c:pt>
                <c:pt idx="4">
                  <c:v>1113</c:v>
                </c:pt>
                <c:pt idx="5">
                  <c:v>436</c:v>
                </c:pt>
                <c:pt idx="6">
                  <c:v>669</c:v>
                </c:pt>
                <c:pt idx="7">
                  <c:v>298</c:v>
                </c:pt>
                <c:pt idx="8">
                  <c:v>173</c:v>
                </c:pt>
                <c:pt idx="9">
                  <c:v>99</c:v>
                </c:pt>
                <c:pt idx="10">
                  <c:v>171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F1-43AB-B278-A1C72755690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Associate</c:v>
                </c:pt>
              </c:strCache>
            </c:strRef>
          </c:tx>
          <c:spPr>
            <a:solidFill>
              <a:srgbClr val="00C4B6"/>
            </a:solidFill>
          </c:spPr>
          <c:invertIfNegative val="0"/>
          <c:cat>
            <c:strRef>
              <c:f>Sheet1!$A$2:$A$12</c:f>
              <c:strCache>
                <c:ptCount val="11"/>
                <c:pt idx="0">
                  <c:v>Engineering</c:v>
                </c:pt>
                <c:pt idx="1">
                  <c:v>Healthcare</c:v>
                </c:pt>
                <c:pt idx="2">
                  <c:v>Sales</c:v>
                </c:pt>
                <c:pt idx="3">
                  <c:v>Operations</c:v>
                </c:pt>
                <c:pt idx="4">
                  <c:v>Tech &amp; Data</c:v>
                </c:pt>
                <c:pt idx="5">
                  <c:v>Admin</c:v>
                </c:pt>
                <c:pt idx="6">
                  <c:v>Finance</c:v>
                </c:pt>
                <c:pt idx="7">
                  <c:v>Marketing</c:v>
                </c:pt>
                <c:pt idx="8">
                  <c:v>Legal</c:v>
                </c:pt>
                <c:pt idx="9">
                  <c:v>Education</c:v>
                </c:pt>
                <c:pt idx="10">
                  <c:v>HR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376</c:v>
                </c:pt>
                <c:pt idx="1">
                  <c:v>147</c:v>
                </c:pt>
                <c:pt idx="2">
                  <c:v>339</c:v>
                </c:pt>
                <c:pt idx="3">
                  <c:v>167</c:v>
                </c:pt>
                <c:pt idx="4">
                  <c:v>142</c:v>
                </c:pt>
                <c:pt idx="5">
                  <c:v>121</c:v>
                </c:pt>
                <c:pt idx="6">
                  <c:v>227</c:v>
                </c:pt>
                <c:pt idx="7">
                  <c:v>76</c:v>
                </c:pt>
                <c:pt idx="8">
                  <c:v>114</c:v>
                </c:pt>
                <c:pt idx="9">
                  <c:v>38</c:v>
                </c:pt>
                <c:pt idx="10">
                  <c:v>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F1-43AB-B278-A1C72755690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Not specified</c:v>
                </c:pt>
              </c:strCache>
            </c:strRef>
          </c:tx>
          <c:spPr>
            <a:solidFill>
              <a:srgbClr val="9FB3C8"/>
            </a:solidFill>
          </c:spPr>
          <c:invertIfNegative val="0"/>
          <c:cat>
            <c:strRef>
              <c:f>Sheet1!$A$2:$A$12</c:f>
              <c:strCache>
                <c:ptCount val="11"/>
                <c:pt idx="0">
                  <c:v>Engineering</c:v>
                </c:pt>
                <c:pt idx="1">
                  <c:v>Healthcare</c:v>
                </c:pt>
                <c:pt idx="2">
                  <c:v>Sales</c:v>
                </c:pt>
                <c:pt idx="3">
                  <c:v>Operations</c:v>
                </c:pt>
                <c:pt idx="4">
                  <c:v>Tech &amp; Data</c:v>
                </c:pt>
                <c:pt idx="5">
                  <c:v>Admin</c:v>
                </c:pt>
                <c:pt idx="6">
                  <c:v>Finance</c:v>
                </c:pt>
                <c:pt idx="7">
                  <c:v>Marketing</c:v>
                </c:pt>
                <c:pt idx="8">
                  <c:v>Legal</c:v>
                </c:pt>
                <c:pt idx="9">
                  <c:v>Education</c:v>
                </c:pt>
                <c:pt idx="10">
                  <c:v>HR</c:v>
                </c:pt>
              </c:strCache>
            </c: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878</c:v>
                </c:pt>
                <c:pt idx="1">
                  <c:v>1072</c:v>
                </c:pt>
                <c:pt idx="2">
                  <c:v>829</c:v>
                </c:pt>
                <c:pt idx="3">
                  <c:v>589</c:v>
                </c:pt>
                <c:pt idx="4">
                  <c:v>802</c:v>
                </c:pt>
                <c:pt idx="5">
                  <c:v>373</c:v>
                </c:pt>
                <c:pt idx="6">
                  <c:v>337</c:v>
                </c:pt>
                <c:pt idx="7">
                  <c:v>313</c:v>
                </c:pt>
                <c:pt idx="8">
                  <c:v>206</c:v>
                </c:pt>
                <c:pt idx="9">
                  <c:v>137</c:v>
                </c:pt>
                <c:pt idx="10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1F1-43AB-B278-A1C72755690B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Dir./Exec./Intern</c:v>
                </c:pt>
              </c:strCache>
            </c:strRef>
          </c:tx>
          <c:spPr>
            <a:solidFill>
              <a:srgbClr val="B56CF0"/>
            </a:solidFill>
          </c:spPr>
          <c:invertIfNegative val="0"/>
          <c:cat>
            <c:strRef>
              <c:f>Sheet1!$A$2:$A$12</c:f>
              <c:strCache>
                <c:ptCount val="11"/>
                <c:pt idx="0">
                  <c:v>Engineering</c:v>
                </c:pt>
                <c:pt idx="1">
                  <c:v>Healthcare</c:v>
                </c:pt>
                <c:pt idx="2">
                  <c:v>Sales</c:v>
                </c:pt>
                <c:pt idx="3">
                  <c:v>Operations</c:v>
                </c:pt>
                <c:pt idx="4">
                  <c:v>Tech &amp; Data</c:v>
                </c:pt>
                <c:pt idx="5">
                  <c:v>Admin</c:v>
                </c:pt>
                <c:pt idx="6">
                  <c:v>Finance</c:v>
                </c:pt>
                <c:pt idx="7">
                  <c:v>Marketing</c:v>
                </c:pt>
                <c:pt idx="8">
                  <c:v>Legal</c:v>
                </c:pt>
                <c:pt idx="9">
                  <c:v>Education</c:v>
                </c:pt>
                <c:pt idx="10">
                  <c:v>HR</c:v>
                </c:pt>
              </c:strCache>
            </c: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159</c:v>
                </c:pt>
                <c:pt idx="1">
                  <c:v>112</c:v>
                </c:pt>
                <c:pt idx="2">
                  <c:v>150</c:v>
                </c:pt>
                <c:pt idx="3">
                  <c:v>118</c:v>
                </c:pt>
                <c:pt idx="4">
                  <c:v>99</c:v>
                </c:pt>
                <c:pt idx="5">
                  <c:v>34</c:v>
                </c:pt>
                <c:pt idx="6">
                  <c:v>133</c:v>
                </c:pt>
                <c:pt idx="7">
                  <c:v>129</c:v>
                </c:pt>
                <c:pt idx="8">
                  <c:v>24</c:v>
                </c:pt>
                <c:pt idx="9">
                  <c:v>20</c:v>
                </c:pt>
                <c:pt idx="10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1F1-43AB-B278-A1C7275569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2B4A75"/>
            </a:solidFill>
          </a:ln>
        </c:spPr>
        <c:txPr>
          <a:bodyPr/>
          <a:lstStyle/>
          <a:p>
            <a:pPr>
              <a:defRPr sz="1000">
                <a:solidFill>
                  <a:srgbClr val="EAF2FB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EAF2FB"/>
              </a:solidFill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000">
          <a:solidFill>
            <a:srgbClr val="EAF2FB"/>
          </a:solidFill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Job families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4AB1FE"/>
              </a:solidFill>
              <a:ln>
                <a:solidFill>
                  <a:srgbClr val="EAF2FB"/>
                </a:solidFill>
              </a:ln>
            </c:spPr>
          </c:marker>
          <c:dPt>
            <c:idx val="4"/>
            <c:marker>
              <c:symbol val="circle"/>
              <c:size val="12"/>
              <c:spPr>
                <a:solidFill>
                  <a:srgbClr val="F2A541"/>
                </a:solidFill>
                <a:ln>
                  <a:solidFill>
                    <a:srgbClr val="EAF2FB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FF03-4208-BABE-D7ECBF13A3B8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1000" b="0">
                        <a:solidFill>
                          <a:srgbClr val="EAF2FB"/>
                        </a:solidFill>
                      </a:rPr>
                      <a:t>Eng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FF03-4208-BABE-D7ECBF13A3B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000" b="0">
                        <a:solidFill>
                          <a:srgbClr val="EAF2FB"/>
                        </a:solidFill>
                      </a:rPr>
                      <a:t>Health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FF03-4208-BABE-D7ECBF13A3B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000" b="0">
                        <a:solidFill>
                          <a:srgbClr val="EAF2FB"/>
                        </a:solidFill>
                      </a:rPr>
                      <a:t>Sales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FF03-4208-BABE-D7ECBF13A3B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000" b="0">
                        <a:solidFill>
                          <a:srgbClr val="EAF2FB"/>
                        </a:solidFill>
                      </a:rPr>
                      <a:t>Ops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FF03-4208-BABE-D7ECBF13A3B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000" b="1">
                        <a:solidFill>
                          <a:srgbClr val="EAF2FB"/>
                        </a:solidFill>
                      </a:rPr>
                      <a:t>Tech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FF03-4208-BABE-D7ECBF13A3B8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000" b="0">
                        <a:solidFill>
                          <a:srgbClr val="EAF2FB"/>
                        </a:solidFill>
                      </a:rPr>
                      <a:t>Admin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FF03-4208-BABE-D7ECBF13A3B8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1000" b="0">
                        <a:solidFill>
                          <a:srgbClr val="EAF2FB"/>
                        </a:solidFill>
                      </a:rPr>
                      <a:t>Fin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FF03-4208-BABE-D7ECBF13A3B8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1000" b="0">
                        <a:solidFill>
                          <a:srgbClr val="EAF2FB"/>
                        </a:solidFill>
                      </a:rPr>
                      <a:t>Mktg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FF03-4208-BABE-D7ECBF13A3B8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sz="1000" b="0">
                        <a:solidFill>
                          <a:srgbClr val="EAF2FB"/>
                        </a:solidFill>
                      </a:rPr>
                      <a:t>Legal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FF03-4208-BABE-D7ECBF13A3B8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 sz="1000" b="0">
                        <a:solidFill>
                          <a:srgbClr val="EAF2FB"/>
                        </a:solidFill>
                      </a:rPr>
                      <a:t>Edu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FF03-4208-BABE-D7ECBF13A3B8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rPr lang="en-US" sz="1000" b="0">
                        <a:solidFill>
                          <a:srgbClr val="EAF2FB"/>
                        </a:solidFill>
                      </a:rPr>
                      <a:t>HR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FF03-4208-BABE-D7ECBF13A3B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trendline>
            <c:trendlineType val="linear"/>
            <c:dispRSqr val="0"/>
            <c:dispEq val="0"/>
          </c:trendline>
          <c:xVal>
            <c:numRef>
              <c:f>Sheet1!$A$2:$A$12</c:f>
              <c:numCache>
                <c:formatCode>General</c:formatCode>
                <c:ptCount val="11"/>
                <c:pt idx="0">
                  <c:v>49.6</c:v>
                </c:pt>
                <c:pt idx="1">
                  <c:v>24.2</c:v>
                </c:pt>
                <c:pt idx="2">
                  <c:v>42.1</c:v>
                </c:pt>
                <c:pt idx="3">
                  <c:v>38.299999999999997</c:v>
                </c:pt>
                <c:pt idx="4">
                  <c:v>83.5</c:v>
                </c:pt>
                <c:pt idx="5">
                  <c:v>32</c:v>
                </c:pt>
                <c:pt idx="6">
                  <c:v>21.9</c:v>
                </c:pt>
                <c:pt idx="7">
                  <c:v>33.5</c:v>
                </c:pt>
                <c:pt idx="8">
                  <c:v>6.7</c:v>
                </c:pt>
                <c:pt idx="9">
                  <c:v>3.2</c:v>
                </c:pt>
                <c:pt idx="10">
                  <c:v>13.6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6.9</c:v>
                </c:pt>
                <c:pt idx="1">
                  <c:v>1.2</c:v>
                </c:pt>
                <c:pt idx="2">
                  <c:v>4.8</c:v>
                </c:pt>
                <c:pt idx="3">
                  <c:v>4</c:v>
                </c:pt>
                <c:pt idx="4">
                  <c:v>21.4</c:v>
                </c:pt>
                <c:pt idx="5">
                  <c:v>3</c:v>
                </c:pt>
                <c:pt idx="6">
                  <c:v>3.1</c:v>
                </c:pt>
                <c:pt idx="7">
                  <c:v>4.7</c:v>
                </c:pt>
                <c:pt idx="8">
                  <c:v>0.5</c:v>
                </c:pt>
                <c:pt idx="9">
                  <c:v>0.1</c:v>
                </c:pt>
                <c:pt idx="10">
                  <c:v>2.7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B-FF03-4208-BABE-D7ECBF13A3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in val="0"/>
        </c:scaling>
        <c:delete val="0"/>
        <c:axPos val="b"/>
        <c:majorGridlines>
          <c:spPr>
            <a:ln>
              <a:solidFill>
                <a:srgbClr val="2B4A75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000" b="0">
                    <a:solidFill>
                      <a:srgbClr val="5BC0EB"/>
                    </a:solidFill>
                  </a:rPr>
                  <a:t>Views (thousands)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spPr>
          <a:ln>
            <a:solidFill>
              <a:srgbClr val="2B4A75"/>
            </a:solidFill>
          </a:ln>
        </c:spPr>
        <c:txPr>
          <a:bodyPr/>
          <a:lstStyle/>
          <a:p>
            <a:pPr>
              <a:defRPr sz="1000">
                <a:solidFill>
                  <a:srgbClr val="EAF2FB"/>
                </a:solidFill>
              </a:defRPr>
            </a:pPr>
            <a:endParaRPr lang="en-US"/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in val="0"/>
        </c:scaling>
        <c:delete val="0"/>
        <c:axPos val="l"/>
        <c:majorGridlines>
          <c:spPr>
            <a:ln>
              <a:solidFill>
                <a:srgbClr val="2B4A75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000" b="0">
                    <a:solidFill>
                      <a:srgbClr val="5BC0EB"/>
                    </a:solidFill>
                  </a:rPr>
                  <a:t>Applications (thousands)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spPr>
          <a:ln>
            <a:solidFill>
              <a:srgbClr val="2B4A75"/>
            </a:solidFill>
          </a:ln>
        </c:spPr>
        <c:txPr>
          <a:bodyPr/>
          <a:lstStyle/>
          <a:p>
            <a:pPr>
              <a:defRPr sz="1000">
                <a:solidFill>
                  <a:srgbClr val="EAF2FB"/>
                </a:solidFill>
              </a:defRPr>
            </a:pPr>
            <a:endParaRPr lang="en-US"/>
          </a:p>
        </c:txPr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000">
          <a:solidFill>
            <a:srgbClr val="EAF2FB"/>
          </a:solidFill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Applies per 100 views</c:v>
                </c:pt>
              </c:strCache>
            </c:strRef>
          </c:tx>
          <c:spPr>
            <a:solidFill>
              <a:srgbClr val="00C4B6"/>
            </a:solidFill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1E6-499E-ADB2-A4E0E17A6EF9}"/>
              </c:ext>
            </c:extLst>
          </c:dPt>
          <c:dPt>
            <c:idx val="1"/>
            <c:invertIfNegative val="0"/>
            <c:bubble3D val="0"/>
            <c:spPr>
              <a:solidFill>
                <a:srgbClr val="4AB1FE"/>
              </a:solidFill>
            </c:spPr>
            <c:extLst>
              <c:ext xmlns:c16="http://schemas.microsoft.com/office/drawing/2014/chart" uri="{C3380CC4-5D6E-409C-BE32-E72D297353CC}">
                <c16:uniqueId val="{00000003-E1E6-499E-ADB2-A4E0E17A6EF9}"/>
              </c:ext>
            </c:extLst>
          </c:dPt>
          <c:dPt>
            <c:idx val="2"/>
            <c:invertIfNegative val="0"/>
            <c:bubble3D val="0"/>
            <c:spPr>
              <a:solidFill>
                <a:srgbClr val="4AB1FE"/>
              </a:solidFill>
            </c:spPr>
            <c:extLst>
              <c:ext xmlns:c16="http://schemas.microsoft.com/office/drawing/2014/chart" uri="{C3380CC4-5D6E-409C-BE32-E72D297353CC}">
                <c16:uniqueId val="{00000005-E1E6-499E-ADB2-A4E0E17A6EF9}"/>
              </c:ext>
            </c:extLst>
          </c:dPt>
          <c:dPt>
            <c:idx val="3"/>
            <c:invertIfNegative val="0"/>
            <c:bubble3D val="0"/>
            <c:spPr>
              <a:solidFill>
                <a:srgbClr val="4AB1FE"/>
              </a:solidFill>
            </c:spPr>
            <c:extLst>
              <c:ext xmlns:c16="http://schemas.microsoft.com/office/drawing/2014/chart" uri="{C3380CC4-5D6E-409C-BE32-E72D297353CC}">
                <c16:uniqueId val="{00000007-E1E6-499E-ADB2-A4E0E17A6EF9}"/>
              </c:ext>
            </c:extLst>
          </c:dPt>
          <c:dPt>
            <c:idx val="4"/>
            <c:invertIfNegative val="0"/>
            <c:bubble3D val="0"/>
            <c:spPr>
              <a:solidFill>
                <a:srgbClr val="4AB1FE"/>
              </a:solidFill>
            </c:spPr>
            <c:extLst>
              <c:ext xmlns:c16="http://schemas.microsoft.com/office/drawing/2014/chart" uri="{C3380CC4-5D6E-409C-BE32-E72D297353CC}">
                <c16:uniqueId val="{00000009-E1E6-499E-ADB2-A4E0E17A6EF9}"/>
              </c:ext>
            </c:extLst>
          </c:dPt>
          <c:dPt>
            <c:idx val="5"/>
            <c:invertIfNegative val="0"/>
            <c:bubble3D val="0"/>
            <c:spPr>
              <a:solidFill>
                <a:srgbClr val="4AB1FE"/>
              </a:solidFill>
            </c:spPr>
            <c:extLst>
              <c:ext xmlns:c16="http://schemas.microsoft.com/office/drawing/2014/chart" uri="{C3380CC4-5D6E-409C-BE32-E72D297353CC}">
                <c16:uniqueId val="{0000000B-E1E6-499E-ADB2-A4E0E17A6EF9}"/>
              </c:ext>
            </c:extLst>
          </c:dPt>
          <c:dPt>
            <c:idx val="6"/>
            <c:invertIfNegative val="0"/>
            <c:bubble3D val="0"/>
            <c:spPr>
              <a:solidFill>
                <a:srgbClr val="4AB1FE"/>
              </a:solidFill>
            </c:spPr>
            <c:extLst>
              <c:ext xmlns:c16="http://schemas.microsoft.com/office/drawing/2014/chart" uri="{C3380CC4-5D6E-409C-BE32-E72D297353CC}">
                <c16:uniqueId val="{0000000D-E1E6-499E-ADB2-A4E0E17A6EF9}"/>
              </c:ext>
            </c:extLst>
          </c:dPt>
          <c:dPt>
            <c:idx val="7"/>
            <c:invertIfNegative val="0"/>
            <c:bubble3D val="0"/>
            <c:spPr>
              <a:solidFill>
                <a:srgbClr val="4AB1FE"/>
              </a:solidFill>
            </c:spPr>
            <c:extLst>
              <c:ext xmlns:c16="http://schemas.microsoft.com/office/drawing/2014/chart" uri="{C3380CC4-5D6E-409C-BE32-E72D297353CC}">
                <c16:uniqueId val="{0000000F-E1E6-499E-ADB2-A4E0E17A6EF9}"/>
              </c:ext>
            </c:extLst>
          </c:dPt>
          <c:dPt>
            <c:idx val="8"/>
            <c:invertIfNegative val="0"/>
            <c:bubble3D val="0"/>
            <c:spPr>
              <a:solidFill>
                <a:srgbClr val="4AB1FE"/>
              </a:solidFill>
            </c:spPr>
            <c:extLst>
              <c:ext xmlns:c16="http://schemas.microsoft.com/office/drawing/2014/chart" uri="{C3380CC4-5D6E-409C-BE32-E72D297353CC}">
                <c16:uniqueId val="{00000011-E1E6-499E-ADB2-A4E0E17A6EF9}"/>
              </c:ext>
            </c:extLst>
          </c:dPt>
          <c:dPt>
            <c:idx val="9"/>
            <c:invertIfNegative val="0"/>
            <c:bubble3D val="0"/>
            <c:spPr>
              <a:solidFill>
                <a:srgbClr val="4AB1FE"/>
              </a:solidFill>
            </c:spPr>
            <c:extLst>
              <c:ext xmlns:c16="http://schemas.microsoft.com/office/drawing/2014/chart" uri="{C3380CC4-5D6E-409C-BE32-E72D297353CC}">
                <c16:uniqueId val="{00000013-E1E6-499E-ADB2-A4E0E17A6EF9}"/>
              </c:ext>
            </c:extLst>
          </c:dPt>
          <c:dPt>
            <c:idx val="10"/>
            <c:invertIfNegative val="0"/>
            <c:bubble3D val="0"/>
            <c:spPr>
              <a:solidFill>
                <a:srgbClr val="F26B7A"/>
              </a:solidFill>
            </c:spPr>
            <c:extLst>
              <c:ext xmlns:c16="http://schemas.microsoft.com/office/drawing/2014/chart" uri="{C3380CC4-5D6E-409C-BE32-E72D297353CC}">
                <c16:uniqueId val="{00000015-E1E6-499E-ADB2-A4E0E17A6EF9}"/>
              </c:ext>
            </c:extLst>
          </c:dPt>
          <c:dPt>
            <c:idx val="11"/>
            <c:invertIfNegative val="0"/>
            <c:bubble3D val="0"/>
            <c:spPr>
              <a:solidFill>
                <a:srgbClr val="F26B7A"/>
              </a:solidFill>
            </c:spPr>
            <c:extLst>
              <c:ext xmlns:c16="http://schemas.microsoft.com/office/drawing/2014/chart" uri="{C3380CC4-5D6E-409C-BE32-E72D297353CC}">
                <c16:uniqueId val="{00000017-E1E6-499E-ADB2-A4E0E17A6EF9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EAF2FB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Technology &amp; Data</c:v>
                </c:pt>
                <c:pt idx="1">
                  <c:v>Human Resources</c:v>
                </c:pt>
                <c:pt idx="2">
                  <c:v>Finance &amp; Accounting</c:v>
                </c:pt>
                <c:pt idx="3">
                  <c:v>Marketing &amp; Comm.</c:v>
                </c:pt>
                <c:pt idx="4">
                  <c:v>Engineering &amp; Tech</c:v>
                </c:pt>
                <c:pt idx="5">
                  <c:v>Other (unclassified)</c:v>
                </c:pt>
                <c:pt idx="6">
                  <c:v>Sales &amp; Cust. Service</c:v>
                </c:pt>
                <c:pt idx="7">
                  <c:v>Operations &amp; Logistics</c:v>
                </c:pt>
                <c:pt idx="8">
                  <c:v>Administration</c:v>
                </c:pt>
                <c:pt idx="9">
                  <c:v>Legal</c:v>
                </c:pt>
                <c:pt idx="10">
                  <c:v>Healthcare</c:v>
                </c:pt>
                <c:pt idx="11">
                  <c:v>Education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25.7</c:v>
                </c:pt>
                <c:pt idx="1">
                  <c:v>19.899999999999999</c:v>
                </c:pt>
                <c:pt idx="2">
                  <c:v>14.3</c:v>
                </c:pt>
                <c:pt idx="3">
                  <c:v>14.1</c:v>
                </c:pt>
                <c:pt idx="4">
                  <c:v>13.8</c:v>
                </c:pt>
                <c:pt idx="5">
                  <c:v>12.1</c:v>
                </c:pt>
                <c:pt idx="6">
                  <c:v>11.4</c:v>
                </c:pt>
                <c:pt idx="7">
                  <c:v>10.4</c:v>
                </c:pt>
                <c:pt idx="8">
                  <c:v>9.1999999999999993</c:v>
                </c:pt>
                <c:pt idx="9">
                  <c:v>7</c:v>
                </c:pt>
                <c:pt idx="10">
                  <c:v>5</c:v>
                </c:pt>
                <c:pt idx="11">
                  <c:v>4.5999999999999996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E1E6-499E-ADB2-A4E0E17A6EF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2B4A75"/>
            </a:solidFill>
          </a:ln>
        </c:spPr>
        <c:txPr>
          <a:bodyPr/>
          <a:lstStyle/>
          <a:p>
            <a:pPr>
              <a:defRPr sz="1000">
                <a:solidFill>
                  <a:srgbClr val="EAF2FB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00">
          <a:solidFill>
            <a:srgbClr val="EAF2FB"/>
          </a:solidFill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bubble3D val="0"/>
            <c:spPr>
              <a:solidFill>
                <a:srgbClr val="5C86FF"/>
              </a:solidFill>
              <a:ln>
                <a:solidFill>
                  <a:srgbClr val="0E2E57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6766-4AB4-B39D-E2D362860CFD}"/>
              </c:ext>
            </c:extLst>
          </c:dPt>
          <c:dPt>
            <c:idx val="1"/>
            <c:bubble3D val="0"/>
            <c:spPr>
              <a:solidFill>
                <a:srgbClr val="00C4B6"/>
              </a:solidFill>
              <a:ln>
                <a:solidFill>
                  <a:srgbClr val="0E2E57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6766-4AB4-B39D-E2D362860CFD}"/>
              </c:ext>
            </c:extLst>
          </c:dPt>
          <c:dPt>
            <c:idx val="2"/>
            <c:bubble3D val="0"/>
            <c:spPr>
              <a:solidFill>
                <a:srgbClr val="F2A541"/>
              </a:solidFill>
              <a:ln>
                <a:solidFill>
                  <a:srgbClr val="0E2E57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6766-4AB4-B39D-E2D362860CFD}"/>
              </c:ext>
            </c:extLst>
          </c:dPt>
          <c:dPt>
            <c:idx val="3"/>
            <c:bubble3D val="0"/>
            <c:spPr>
              <a:solidFill>
                <a:srgbClr val="B56CF0"/>
              </a:solidFill>
              <a:ln>
                <a:solidFill>
                  <a:srgbClr val="0E2E57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6766-4AB4-B39D-E2D362860CFD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>
                    <a:solidFill>
                      <a:srgbClr val="EAF2FB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Full-time</c:v>
                </c:pt>
                <c:pt idx="1">
                  <c:v>Contract</c:v>
                </c:pt>
                <c:pt idx="2">
                  <c:v>Part-time</c:v>
                </c:pt>
                <c:pt idx="3">
                  <c:v>Other types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31939</c:v>
                </c:pt>
                <c:pt idx="1">
                  <c:v>3850</c:v>
                </c:pt>
                <c:pt idx="2">
                  <c:v>3142</c:v>
                </c:pt>
                <c:pt idx="3">
                  <c:v>1069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766-4AB4-B39D-E2D362860CFD}"/>
            </c:ext>
          </c:extLst>
        </c:ser>
        <c:dLbls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</c:plotArea>
    <c:legend>
      <c:legendPos val="r"/>
      <c:overlay val="0"/>
      <c:txPr>
        <a:bodyPr/>
        <a:lstStyle/>
        <a:p>
          <a:pPr>
            <a:defRPr sz="1200">
              <a:solidFill>
                <a:srgbClr val="EAF2FB"/>
              </a:solidFill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200">
          <a:solidFill>
            <a:srgbClr val="EAF2FB"/>
          </a:solidFill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Postings</c:v>
                </c:pt>
              </c:strCache>
            </c:strRef>
          </c:tx>
          <c:spPr>
            <a:solidFill>
              <a:srgbClr val="4AB1FE"/>
            </a:solidFill>
          </c:spPr>
          <c:invertIfNegative val="0"/>
          <c:cat>
            <c:strRef>
              <c:f>Sheet1!$A$2:$A$13</c:f>
              <c:strCache>
                <c:ptCount val="12"/>
                <c:pt idx="0">
                  <c:v>Other</c:v>
                </c:pt>
                <c:pt idx="1">
                  <c:v>Engineering</c:v>
                </c:pt>
                <c:pt idx="2">
                  <c:v>Healthcare</c:v>
                </c:pt>
                <c:pt idx="3">
                  <c:v>Sales</c:v>
                </c:pt>
                <c:pt idx="4">
                  <c:v>Operations</c:v>
                </c:pt>
                <c:pt idx="5">
                  <c:v>Tech &amp; Data</c:v>
                </c:pt>
                <c:pt idx="6">
                  <c:v>Admin</c:v>
                </c:pt>
                <c:pt idx="7">
                  <c:v>Finance</c:v>
                </c:pt>
                <c:pt idx="8">
                  <c:v>Marketing</c:v>
                </c:pt>
                <c:pt idx="9">
                  <c:v>Legal</c:v>
                </c:pt>
                <c:pt idx="10">
                  <c:v>Education</c:v>
                </c:pt>
                <c:pt idx="11">
                  <c:v>HR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16598</c:v>
                </c:pt>
                <c:pt idx="1">
                  <c:v>4764</c:v>
                </c:pt>
                <c:pt idx="2">
                  <c:v>3818</c:v>
                </c:pt>
                <c:pt idx="3">
                  <c:v>3695</c:v>
                </c:pt>
                <c:pt idx="4">
                  <c:v>2639</c:v>
                </c:pt>
                <c:pt idx="5">
                  <c:v>2556</c:v>
                </c:pt>
                <c:pt idx="6">
                  <c:v>1678</c:v>
                </c:pt>
                <c:pt idx="7">
                  <c:v>1628</c:v>
                </c:pt>
                <c:pt idx="8">
                  <c:v>1020</c:v>
                </c:pt>
                <c:pt idx="9">
                  <c:v>598</c:v>
                </c:pt>
                <c:pt idx="10">
                  <c:v>523</c:v>
                </c:pt>
                <c:pt idx="11">
                  <c:v>483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C35-4AC8-B04F-3BEB250012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Cumulative %</c:v>
                </c:pt>
              </c:strCache>
            </c:strRef>
          </c:tx>
          <c:spPr>
            <a:ln w="31750" cap="rnd">
              <a:solidFill>
                <a:srgbClr val="F2A541"/>
              </a:solidFill>
              <a:round/>
            </a:ln>
          </c:spPr>
          <c:marker>
            <c:symbol val="circle"/>
            <c:size val="7"/>
            <c:spPr>
              <a:solidFill>
                <a:srgbClr val="F2A541"/>
              </a:solidFill>
              <a:ln w="9525">
                <a:solidFill>
                  <a:srgbClr val="EAF2FB"/>
                </a:solidFill>
              </a:ln>
            </c:spPr>
          </c:marker>
          <c:dLbls>
            <c:numFmt formatCode="0%" sourceLinked="0"/>
            <c:spPr>
              <a:solidFill>
                <a:srgbClr val="0E2E57"/>
              </a:solidFill>
              <a:ln>
                <a:noFill/>
              </a:ln>
            </c:spPr>
            <c:txPr>
              <a:bodyPr/>
              <a:lstStyle/>
              <a:p>
                <a:pPr>
                  <a:defRPr sz="900" b="1">
                    <a:solidFill>
                      <a:srgbClr val="F2A541"/>
                    </a:solidFill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Other</c:v>
                </c:pt>
                <c:pt idx="1">
                  <c:v>Engineering</c:v>
                </c:pt>
                <c:pt idx="2">
                  <c:v>Healthcare</c:v>
                </c:pt>
                <c:pt idx="3">
                  <c:v>Sales</c:v>
                </c:pt>
                <c:pt idx="4">
                  <c:v>Operations</c:v>
                </c:pt>
                <c:pt idx="5">
                  <c:v>Tech &amp; Data</c:v>
                </c:pt>
                <c:pt idx="6">
                  <c:v>Admin</c:v>
                </c:pt>
                <c:pt idx="7">
                  <c:v>Finance</c:v>
                </c:pt>
                <c:pt idx="8">
                  <c:v>Marketing</c:v>
                </c:pt>
                <c:pt idx="9">
                  <c:v>Legal</c:v>
                </c:pt>
                <c:pt idx="10">
                  <c:v>Education</c:v>
                </c:pt>
                <c:pt idx="11">
                  <c:v>HR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0.41489999999999999</c:v>
                </c:pt>
                <c:pt idx="1">
                  <c:v>0.53410000000000002</c:v>
                </c:pt>
                <c:pt idx="2">
                  <c:v>0.62949999999999995</c:v>
                </c:pt>
                <c:pt idx="3">
                  <c:v>0.72189999999999999</c:v>
                </c:pt>
                <c:pt idx="4">
                  <c:v>0.78790000000000004</c:v>
                </c:pt>
                <c:pt idx="5">
                  <c:v>0.8518</c:v>
                </c:pt>
                <c:pt idx="6">
                  <c:v>0.89370000000000005</c:v>
                </c:pt>
                <c:pt idx="7">
                  <c:v>0.93440000000000001</c:v>
                </c:pt>
                <c:pt idx="8">
                  <c:v>0.95989999999999998</c:v>
                </c:pt>
                <c:pt idx="9">
                  <c:v>0.9748</c:v>
                </c:pt>
                <c:pt idx="10">
                  <c:v>0.9879</c:v>
                </c:pt>
                <c:pt idx="11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C35-4AC8-B04F-3BEB250012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0010"/>
        <c:axId val="5002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2B4A75"/>
            </a:solidFill>
          </a:ln>
        </c:spPr>
        <c:txPr>
          <a:bodyPr/>
          <a:lstStyle/>
          <a:p>
            <a:pPr>
              <a:defRPr sz="900">
                <a:solidFill>
                  <a:srgbClr val="EAF2FB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2B4A75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EAF2FB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  <c:catAx>
        <c:axId val="5001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0020"/>
        <c:crosses val="autoZero"/>
        <c:auto val="1"/>
        <c:lblAlgn val="ctr"/>
        <c:lblOffset val="100"/>
        <c:noMultiLvlLbl val="0"/>
      </c:catAx>
      <c:valAx>
        <c:axId val="50020"/>
        <c:scaling>
          <c:orientation val="minMax"/>
          <c:max val="1"/>
          <c:min val="0"/>
        </c:scaling>
        <c:delete val="0"/>
        <c:axPos val="r"/>
        <c:numFmt formatCode="0%" sourceLinked="0"/>
        <c:majorTickMark val="out"/>
        <c:minorTickMark val="none"/>
        <c:tickLblPos val="nextTo"/>
        <c:spPr>
          <a:ln>
            <a:solidFill>
              <a:srgbClr val="2B4A75"/>
            </a:solidFill>
          </a:ln>
        </c:spPr>
        <c:txPr>
          <a:bodyPr/>
          <a:lstStyle/>
          <a:p>
            <a:pPr>
              <a:defRPr sz="900">
                <a:solidFill>
                  <a:srgbClr val="F2A541"/>
                </a:solidFill>
              </a:defRPr>
            </a:pPr>
            <a:endParaRPr lang="en-US"/>
          </a:p>
        </c:txPr>
        <c:crossAx val="50010"/>
        <c:crosses val="max"/>
        <c:crossBetween val="between"/>
        <c:majorUnit val="0.2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EAF2FB"/>
              </a:solidFill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900">
          <a:solidFill>
            <a:srgbClr val="EAF2FB"/>
          </a:solidFill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F2A541"/>
            </a:solidFill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solidFill>
                      <a:srgbClr val="EAF2FB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Intern</c:v>
                </c:pt>
                <c:pt idx="1">
                  <c:v>Entry</c:v>
                </c:pt>
                <c:pt idx="2">
                  <c:v>Assoc.</c:v>
                </c:pt>
                <c:pt idx="3">
                  <c:v>Mid-Sr</c:v>
                </c:pt>
                <c:pt idx="4">
                  <c:v>Director</c:v>
                </c:pt>
                <c:pt idx="5">
                  <c:v>Exec.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469</c:v>
                </c:pt>
                <c:pt idx="1">
                  <c:v>11881</c:v>
                </c:pt>
                <c:pt idx="2">
                  <c:v>3204</c:v>
                </c:pt>
                <c:pt idx="3">
                  <c:v>13499</c:v>
                </c:pt>
                <c:pt idx="4">
                  <c:v>1192</c:v>
                </c:pt>
                <c:pt idx="5">
                  <c:v>395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07-4D4F-96FC-4326DC27C55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2B4A75"/>
            </a:solidFill>
          </a:ln>
        </c:spPr>
        <c:txPr>
          <a:bodyPr/>
          <a:lstStyle/>
          <a:p>
            <a:pPr>
              <a:defRPr sz="800">
                <a:solidFill>
                  <a:srgbClr val="EAF2FB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800">
          <a:solidFill>
            <a:srgbClr val="EAF2FB"/>
          </a:solidFill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Postings</c:v>
                </c:pt>
              </c:strCache>
            </c:strRef>
          </c:tx>
          <c:spPr>
            <a:solidFill>
              <a:srgbClr val="00C4B6"/>
            </a:solidFill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>
                    <a:solidFill>
                      <a:srgbClr val="EAF2FB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New York</c:v>
                </c:pt>
                <c:pt idx="1">
                  <c:v>Houston</c:v>
                </c:pt>
                <c:pt idx="2">
                  <c:v>Chicago</c:v>
                </c:pt>
                <c:pt idx="3">
                  <c:v>Dallas</c:v>
                </c:pt>
                <c:pt idx="4">
                  <c:v>Atlanta</c:v>
                </c:pt>
                <c:pt idx="5">
                  <c:v>Phoenix</c:v>
                </c:pt>
                <c:pt idx="6">
                  <c:v>Boston</c:v>
                </c:pt>
                <c:pt idx="7">
                  <c:v>Charlotte</c:v>
                </c:pt>
                <c:pt idx="8">
                  <c:v>Austin</c:v>
                </c:pt>
                <c:pt idx="9">
                  <c:v>Los Angeles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866</c:v>
                </c:pt>
                <c:pt idx="1">
                  <c:v>565</c:v>
                </c:pt>
                <c:pt idx="2">
                  <c:v>565</c:v>
                </c:pt>
                <c:pt idx="3">
                  <c:v>457</c:v>
                </c:pt>
                <c:pt idx="4">
                  <c:v>438</c:v>
                </c:pt>
                <c:pt idx="5">
                  <c:v>367</c:v>
                </c:pt>
                <c:pt idx="6">
                  <c:v>365</c:v>
                </c:pt>
                <c:pt idx="7">
                  <c:v>353</c:v>
                </c:pt>
                <c:pt idx="8">
                  <c:v>344</c:v>
                </c:pt>
                <c:pt idx="9">
                  <c:v>313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8D-457A-9801-C42E3EFD02D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2B4A75"/>
            </a:solidFill>
          </a:ln>
        </c:spPr>
        <c:txPr>
          <a:bodyPr/>
          <a:lstStyle/>
          <a:p>
            <a:pPr>
              <a:defRPr sz="700">
                <a:solidFill>
                  <a:srgbClr val="EAF2FB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700">
          <a:solidFill>
            <a:srgbClr val="EAF2FB"/>
          </a:solidFill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Full-time</c:v>
                </c:pt>
                <c:pt idx="1">
                  <c:v>Contract</c:v>
                </c:pt>
                <c:pt idx="2">
                  <c:v>Part-time</c:v>
                </c:pt>
                <c:pt idx="3">
                  <c:v>Other</c:v>
                </c:pt>
                <c:pt idx="4">
                  <c:v>Total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3577</c:v>
                </c:pt>
                <c:pt idx="2">
                  <c:v>4560</c:v>
                </c:pt>
                <c:pt idx="3">
                  <c:v>4739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13-4336-98C1-AE14CE77EFB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Added</c:v>
                </c:pt>
              </c:strCache>
            </c:strRef>
          </c:tx>
          <c:spPr>
            <a:solidFill>
              <a:srgbClr val="5C86FF"/>
            </a:solidFill>
          </c:spPr>
          <c:invertIfNegative val="0"/>
          <c:dLbls>
            <c:numFmt formatCode="#,##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EAF2FB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Full-time</c:v>
                </c:pt>
                <c:pt idx="1">
                  <c:v>Contract</c:v>
                </c:pt>
                <c:pt idx="2">
                  <c:v>Part-time</c:v>
                </c:pt>
                <c:pt idx="3">
                  <c:v>Other</c:v>
                </c:pt>
                <c:pt idx="4">
                  <c:v>Total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3577</c:v>
                </c:pt>
                <c:pt idx="1">
                  <c:v>983</c:v>
                </c:pt>
                <c:pt idx="2">
                  <c:v>179</c:v>
                </c:pt>
                <c:pt idx="3">
                  <c:v>153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C13-4336-98C1-AE14CE77EFB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F2A541"/>
            </a:solidFill>
          </c:spPr>
          <c:invertIfNegative val="0"/>
          <c:dLbls>
            <c:numFmt formatCode="#,##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EAF2FB"/>
                    </a:solidFill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Full-time</c:v>
                </c:pt>
                <c:pt idx="1">
                  <c:v>Contract</c:v>
                </c:pt>
                <c:pt idx="2">
                  <c:v>Part-time</c:v>
                </c:pt>
                <c:pt idx="3">
                  <c:v>Other</c:v>
                </c:pt>
                <c:pt idx="4">
                  <c:v>Total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4892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C13-4336-98C1-AE14CE77EF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2B4A75"/>
            </a:solidFill>
          </a:ln>
        </c:spPr>
        <c:txPr>
          <a:bodyPr/>
          <a:lstStyle/>
          <a:p>
            <a:pPr>
              <a:defRPr sz="800">
                <a:solidFill>
                  <a:srgbClr val="EAF2FB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800">
          <a:solidFill>
            <a:srgbClr val="EAF2FB"/>
          </a:solidFill>
        </a:defRPr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Full-time</c:v>
                </c:pt>
              </c:strCache>
            </c:strRef>
          </c:tx>
          <c:spPr>
            <a:solidFill>
              <a:srgbClr val="5C86FF"/>
            </a:solidFill>
          </c:spPr>
          <c:invertIfNegative val="0"/>
          <c:cat>
            <c:strRef>
              <c:f>Sheet1!$A$2:$A$12</c:f>
              <c:strCache>
                <c:ptCount val="11"/>
                <c:pt idx="0">
                  <c:v>Engineering</c:v>
                </c:pt>
                <c:pt idx="1">
                  <c:v>Healthcare</c:v>
                </c:pt>
                <c:pt idx="2">
                  <c:v>Sales</c:v>
                </c:pt>
                <c:pt idx="3">
                  <c:v>Operations</c:v>
                </c:pt>
                <c:pt idx="4">
                  <c:v>Tech &amp; Data</c:v>
                </c:pt>
                <c:pt idx="5">
                  <c:v>Admin</c:v>
                </c:pt>
                <c:pt idx="6">
                  <c:v>Finance</c:v>
                </c:pt>
                <c:pt idx="7">
                  <c:v>Marketing</c:v>
                </c:pt>
                <c:pt idx="8">
                  <c:v>Legal</c:v>
                </c:pt>
                <c:pt idx="9">
                  <c:v>Education</c:v>
                </c:pt>
                <c:pt idx="10">
                  <c:v>HR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4089</c:v>
                </c:pt>
                <c:pt idx="1">
                  <c:v>2914</c:v>
                </c:pt>
                <c:pt idx="2">
                  <c:v>2912</c:v>
                </c:pt>
                <c:pt idx="3">
                  <c:v>2226</c:v>
                </c:pt>
                <c:pt idx="4">
                  <c:v>1723</c:v>
                </c:pt>
                <c:pt idx="5">
                  <c:v>1354</c:v>
                </c:pt>
                <c:pt idx="6">
                  <c:v>1439</c:v>
                </c:pt>
                <c:pt idx="7">
                  <c:v>803</c:v>
                </c:pt>
                <c:pt idx="8">
                  <c:v>528</c:v>
                </c:pt>
                <c:pt idx="9">
                  <c:v>417</c:v>
                </c:pt>
                <c:pt idx="10">
                  <c:v>401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C54-4A76-8215-93A9CF2FC96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Contract</c:v>
                </c:pt>
              </c:strCache>
            </c:strRef>
          </c:tx>
          <c:spPr>
            <a:solidFill>
              <a:srgbClr val="00C4B6"/>
            </a:solidFill>
          </c:spPr>
          <c:invertIfNegative val="0"/>
          <c:cat>
            <c:strRef>
              <c:f>Sheet1!$A$2:$A$12</c:f>
              <c:strCache>
                <c:ptCount val="11"/>
                <c:pt idx="0">
                  <c:v>Engineering</c:v>
                </c:pt>
                <c:pt idx="1">
                  <c:v>Healthcare</c:v>
                </c:pt>
                <c:pt idx="2">
                  <c:v>Sales</c:v>
                </c:pt>
                <c:pt idx="3">
                  <c:v>Operations</c:v>
                </c:pt>
                <c:pt idx="4">
                  <c:v>Tech &amp; Data</c:v>
                </c:pt>
                <c:pt idx="5">
                  <c:v>Admin</c:v>
                </c:pt>
                <c:pt idx="6">
                  <c:v>Finance</c:v>
                </c:pt>
                <c:pt idx="7">
                  <c:v>Marketing</c:v>
                </c:pt>
                <c:pt idx="8">
                  <c:v>Legal</c:v>
                </c:pt>
                <c:pt idx="9">
                  <c:v>Education</c:v>
                </c:pt>
                <c:pt idx="10">
                  <c:v>HR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488</c:v>
                </c:pt>
                <c:pt idx="1">
                  <c:v>420</c:v>
                </c:pt>
                <c:pt idx="2">
                  <c:v>106</c:v>
                </c:pt>
                <c:pt idx="3">
                  <c:v>194</c:v>
                </c:pt>
                <c:pt idx="4">
                  <c:v>763</c:v>
                </c:pt>
                <c:pt idx="5">
                  <c:v>75</c:v>
                </c:pt>
                <c:pt idx="6">
                  <c:v>126</c:v>
                </c:pt>
                <c:pt idx="7">
                  <c:v>105</c:v>
                </c:pt>
                <c:pt idx="8">
                  <c:v>39</c:v>
                </c:pt>
                <c:pt idx="9">
                  <c:v>18</c:v>
                </c:pt>
                <c:pt idx="10">
                  <c:v>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C54-4A76-8215-93A9CF2FC96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Part-time</c:v>
                </c:pt>
              </c:strCache>
            </c:strRef>
          </c:tx>
          <c:spPr>
            <a:solidFill>
              <a:srgbClr val="F2A541"/>
            </a:solidFill>
          </c:spPr>
          <c:invertIfNegative val="0"/>
          <c:cat>
            <c:strRef>
              <c:f>Sheet1!$A$2:$A$12</c:f>
              <c:strCache>
                <c:ptCount val="11"/>
                <c:pt idx="0">
                  <c:v>Engineering</c:v>
                </c:pt>
                <c:pt idx="1">
                  <c:v>Healthcare</c:v>
                </c:pt>
                <c:pt idx="2">
                  <c:v>Sales</c:v>
                </c:pt>
                <c:pt idx="3">
                  <c:v>Operations</c:v>
                </c:pt>
                <c:pt idx="4">
                  <c:v>Tech &amp; Data</c:v>
                </c:pt>
                <c:pt idx="5">
                  <c:v>Admin</c:v>
                </c:pt>
                <c:pt idx="6">
                  <c:v>Finance</c:v>
                </c:pt>
                <c:pt idx="7">
                  <c:v>Marketing</c:v>
                </c:pt>
                <c:pt idx="8">
                  <c:v>Legal</c:v>
                </c:pt>
                <c:pt idx="9">
                  <c:v>Education</c:v>
                </c:pt>
                <c:pt idx="10">
                  <c:v>HR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122</c:v>
                </c:pt>
                <c:pt idx="1">
                  <c:v>407</c:v>
                </c:pt>
                <c:pt idx="2">
                  <c:v>585</c:v>
                </c:pt>
                <c:pt idx="3">
                  <c:v>180</c:v>
                </c:pt>
                <c:pt idx="4">
                  <c:v>16</c:v>
                </c:pt>
                <c:pt idx="5">
                  <c:v>196</c:v>
                </c:pt>
                <c:pt idx="6">
                  <c:v>38</c:v>
                </c:pt>
                <c:pt idx="7">
                  <c:v>46</c:v>
                </c:pt>
                <c:pt idx="8">
                  <c:v>20</c:v>
                </c:pt>
                <c:pt idx="9">
                  <c:v>72</c:v>
                </c:pt>
                <c:pt idx="10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C54-4A76-8215-93A9CF2FC96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B56CF0"/>
            </a:solidFill>
          </c:spPr>
          <c:invertIfNegative val="0"/>
          <c:cat>
            <c:strRef>
              <c:f>Sheet1!$A$2:$A$12</c:f>
              <c:strCache>
                <c:ptCount val="11"/>
                <c:pt idx="0">
                  <c:v>Engineering</c:v>
                </c:pt>
                <c:pt idx="1">
                  <c:v>Healthcare</c:v>
                </c:pt>
                <c:pt idx="2">
                  <c:v>Sales</c:v>
                </c:pt>
                <c:pt idx="3">
                  <c:v>Operations</c:v>
                </c:pt>
                <c:pt idx="4">
                  <c:v>Tech &amp; Data</c:v>
                </c:pt>
                <c:pt idx="5">
                  <c:v>Admin</c:v>
                </c:pt>
                <c:pt idx="6">
                  <c:v>Finance</c:v>
                </c:pt>
                <c:pt idx="7">
                  <c:v>Marketing</c:v>
                </c:pt>
                <c:pt idx="8">
                  <c:v>Legal</c:v>
                </c:pt>
                <c:pt idx="9">
                  <c:v>Education</c:v>
                </c:pt>
                <c:pt idx="10">
                  <c:v>HR</c:v>
                </c:pt>
              </c:strCache>
            </c: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65</c:v>
                </c:pt>
                <c:pt idx="1">
                  <c:v>77</c:v>
                </c:pt>
                <c:pt idx="2">
                  <c:v>92</c:v>
                </c:pt>
                <c:pt idx="3">
                  <c:v>39</c:v>
                </c:pt>
                <c:pt idx="4">
                  <c:v>54</c:v>
                </c:pt>
                <c:pt idx="5">
                  <c:v>53</c:v>
                </c:pt>
                <c:pt idx="6">
                  <c:v>25</c:v>
                </c:pt>
                <c:pt idx="7">
                  <c:v>66</c:v>
                </c:pt>
                <c:pt idx="8">
                  <c:v>11</c:v>
                </c:pt>
                <c:pt idx="9">
                  <c:v>16</c:v>
                </c:pt>
                <c:pt idx="10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C54-4A76-8215-93A9CF2FC9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2B4A75"/>
            </a:solidFill>
          </a:ln>
        </c:spPr>
        <c:txPr>
          <a:bodyPr/>
          <a:lstStyle/>
          <a:p>
            <a:pPr>
              <a:defRPr sz="700">
                <a:solidFill>
                  <a:srgbClr val="EAF2FB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700">
              <a:solidFill>
                <a:srgbClr val="EAF2FB"/>
              </a:solidFill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700">
          <a:solidFill>
            <a:srgbClr val="EAF2FB"/>
          </a:solidFill>
        </a:defRPr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Job families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4AB1FE"/>
              </a:solidFill>
              <a:ln>
                <a:solidFill>
                  <a:srgbClr val="EAF2FB"/>
                </a:solidFill>
              </a:ln>
            </c:spPr>
          </c:marker>
          <c:dPt>
            <c:idx val="4"/>
            <c:marker>
              <c:symbol val="circle"/>
              <c:size val="12"/>
              <c:spPr>
                <a:solidFill>
                  <a:srgbClr val="F2A541"/>
                </a:solidFill>
                <a:ln>
                  <a:solidFill>
                    <a:srgbClr val="EAF2FB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2F55-44E5-A957-68DC99AE902F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700" b="0">
                        <a:solidFill>
                          <a:srgbClr val="EAF2FB"/>
                        </a:solidFill>
                      </a:rPr>
                      <a:t>Eng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2F55-44E5-A957-68DC99AE902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700" b="0">
                        <a:solidFill>
                          <a:srgbClr val="EAF2FB"/>
                        </a:solidFill>
                      </a:rPr>
                      <a:t>Health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2F55-44E5-A957-68DC99AE902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700" b="0">
                        <a:solidFill>
                          <a:srgbClr val="EAF2FB"/>
                        </a:solidFill>
                      </a:rPr>
                      <a:t>Sales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2F55-44E5-A957-68DC99AE902F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700" b="0">
                        <a:solidFill>
                          <a:srgbClr val="EAF2FB"/>
                        </a:solidFill>
                      </a:rPr>
                      <a:t>Ops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2F55-44E5-A957-68DC99AE902F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700" b="1">
                        <a:solidFill>
                          <a:srgbClr val="EAF2FB"/>
                        </a:solidFill>
                      </a:rPr>
                      <a:t>Tech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2F55-44E5-A957-68DC99AE902F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700" b="0">
                        <a:solidFill>
                          <a:srgbClr val="EAF2FB"/>
                        </a:solidFill>
                      </a:rPr>
                      <a:t>Admin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2F55-44E5-A957-68DC99AE902F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700" b="0">
                        <a:solidFill>
                          <a:srgbClr val="EAF2FB"/>
                        </a:solidFill>
                      </a:rPr>
                      <a:t>Fin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2F55-44E5-A957-68DC99AE902F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700" b="0">
                        <a:solidFill>
                          <a:srgbClr val="EAF2FB"/>
                        </a:solidFill>
                      </a:rPr>
                      <a:t>Mktg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2F55-44E5-A957-68DC99AE902F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sz="700" b="0">
                        <a:solidFill>
                          <a:srgbClr val="EAF2FB"/>
                        </a:solidFill>
                      </a:rPr>
                      <a:t>Legal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2F55-44E5-A957-68DC99AE902F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 sz="700" b="0">
                        <a:solidFill>
                          <a:srgbClr val="EAF2FB"/>
                        </a:solidFill>
                      </a:rPr>
                      <a:t>Edu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2F55-44E5-A957-68DC99AE902F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rPr lang="en-US" sz="700" b="0">
                        <a:solidFill>
                          <a:srgbClr val="EAF2FB"/>
                        </a:solidFill>
                      </a:rPr>
                      <a:t>HR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2F55-44E5-A957-68DC99AE902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trendline>
            <c:trendlineType val="linear"/>
            <c:dispRSqr val="0"/>
            <c:dispEq val="0"/>
          </c:trendline>
          <c:xVal>
            <c:numRef>
              <c:f>Sheet1!$A$2:$A$12</c:f>
              <c:numCache>
                <c:formatCode>General</c:formatCode>
                <c:ptCount val="11"/>
                <c:pt idx="0">
                  <c:v>49.6</c:v>
                </c:pt>
                <c:pt idx="1">
                  <c:v>24.2</c:v>
                </c:pt>
                <c:pt idx="2">
                  <c:v>42.1</c:v>
                </c:pt>
                <c:pt idx="3">
                  <c:v>38.299999999999997</c:v>
                </c:pt>
                <c:pt idx="4">
                  <c:v>83.5</c:v>
                </c:pt>
                <c:pt idx="5">
                  <c:v>32</c:v>
                </c:pt>
                <c:pt idx="6">
                  <c:v>21.9</c:v>
                </c:pt>
                <c:pt idx="7">
                  <c:v>33.5</c:v>
                </c:pt>
                <c:pt idx="8">
                  <c:v>6.7</c:v>
                </c:pt>
                <c:pt idx="9">
                  <c:v>3.2</c:v>
                </c:pt>
                <c:pt idx="10">
                  <c:v>13.6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6.9</c:v>
                </c:pt>
                <c:pt idx="1">
                  <c:v>1.2</c:v>
                </c:pt>
                <c:pt idx="2">
                  <c:v>4.8</c:v>
                </c:pt>
                <c:pt idx="3">
                  <c:v>4</c:v>
                </c:pt>
                <c:pt idx="4">
                  <c:v>21.4</c:v>
                </c:pt>
                <c:pt idx="5">
                  <c:v>3</c:v>
                </c:pt>
                <c:pt idx="6">
                  <c:v>3.1</c:v>
                </c:pt>
                <c:pt idx="7">
                  <c:v>4.7</c:v>
                </c:pt>
                <c:pt idx="8">
                  <c:v>0.5</c:v>
                </c:pt>
                <c:pt idx="9">
                  <c:v>0.1</c:v>
                </c:pt>
                <c:pt idx="10">
                  <c:v>2.7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B-2F55-44E5-A957-68DC99AE90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in val="0"/>
        </c:scaling>
        <c:delete val="0"/>
        <c:axPos val="b"/>
        <c:majorGridlines>
          <c:spPr>
            <a:ln>
              <a:solidFill>
                <a:srgbClr val="2B4A75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700" b="0">
                    <a:solidFill>
                      <a:srgbClr val="5BC0EB"/>
                    </a:solidFill>
                  </a:rPr>
                  <a:t>Views (K)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spPr>
          <a:ln>
            <a:solidFill>
              <a:srgbClr val="2B4A75"/>
            </a:solidFill>
          </a:ln>
        </c:spPr>
        <c:txPr>
          <a:bodyPr/>
          <a:lstStyle/>
          <a:p>
            <a:pPr>
              <a:defRPr sz="700">
                <a:solidFill>
                  <a:srgbClr val="EAF2FB"/>
                </a:solidFill>
              </a:defRPr>
            </a:pPr>
            <a:endParaRPr lang="en-US"/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in val="0"/>
        </c:scaling>
        <c:delete val="0"/>
        <c:axPos val="l"/>
        <c:majorGridlines>
          <c:spPr>
            <a:ln>
              <a:solidFill>
                <a:srgbClr val="2B4A75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700" b="0">
                    <a:solidFill>
                      <a:srgbClr val="5BC0EB"/>
                    </a:solidFill>
                  </a:rPr>
                  <a:t>Applications (K)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spPr>
          <a:ln>
            <a:solidFill>
              <a:srgbClr val="2B4A75"/>
            </a:solidFill>
          </a:ln>
        </c:spPr>
        <c:txPr>
          <a:bodyPr/>
          <a:lstStyle/>
          <a:p>
            <a:pPr>
              <a:defRPr sz="700">
                <a:solidFill>
                  <a:srgbClr val="EAF2FB"/>
                </a:solidFill>
              </a:defRPr>
            </a:pPr>
            <a:endParaRPr lang="en-US"/>
          </a:p>
        </c:txPr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700">
          <a:solidFill>
            <a:srgbClr val="EAF2FB"/>
          </a:solidFill>
        </a:defRPr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Applies per 100 views</c:v>
                </c:pt>
              </c:strCache>
            </c:strRef>
          </c:tx>
          <c:spPr>
            <a:solidFill>
              <a:srgbClr val="00C4B6"/>
            </a:solidFill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432-44F1-B3EF-9E105C48BC89}"/>
              </c:ext>
            </c:extLst>
          </c:dPt>
          <c:dPt>
            <c:idx val="1"/>
            <c:invertIfNegative val="0"/>
            <c:bubble3D val="0"/>
            <c:spPr>
              <a:solidFill>
                <a:srgbClr val="4AB1FE"/>
              </a:solidFill>
            </c:spPr>
            <c:extLst>
              <c:ext xmlns:c16="http://schemas.microsoft.com/office/drawing/2014/chart" uri="{C3380CC4-5D6E-409C-BE32-E72D297353CC}">
                <c16:uniqueId val="{00000003-D432-44F1-B3EF-9E105C48BC89}"/>
              </c:ext>
            </c:extLst>
          </c:dPt>
          <c:dPt>
            <c:idx val="2"/>
            <c:invertIfNegative val="0"/>
            <c:bubble3D val="0"/>
            <c:spPr>
              <a:solidFill>
                <a:srgbClr val="4AB1FE"/>
              </a:solidFill>
            </c:spPr>
            <c:extLst>
              <c:ext xmlns:c16="http://schemas.microsoft.com/office/drawing/2014/chart" uri="{C3380CC4-5D6E-409C-BE32-E72D297353CC}">
                <c16:uniqueId val="{00000005-D432-44F1-B3EF-9E105C48BC89}"/>
              </c:ext>
            </c:extLst>
          </c:dPt>
          <c:dPt>
            <c:idx val="3"/>
            <c:invertIfNegative val="0"/>
            <c:bubble3D val="0"/>
            <c:spPr>
              <a:solidFill>
                <a:srgbClr val="4AB1FE"/>
              </a:solidFill>
            </c:spPr>
            <c:extLst>
              <c:ext xmlns:c16="http://schemas.microsoft.com/office/drawing/2014/chart" uri="{C3380CC4-5D6E-409C-BE32-E72D297353CC}">
                <c16:uniqueId val="{00000007-D432-44F1-B3EF-9E105C48BC89}"/>
              </c:ext>
            </c:extLst>
          </c:dPt>
          <c:dPt>
            <c:idx val="4"/>
            <c:invertIfNegative val="0"/>
            <c:bubble3D val="0"/>
            <c:spPr>
              <a:solidFill>
                <a:srgbClr val="4AB1FE"/>
              </a:solidFill>
            </c:spPr>
            <c:extLst>
              <c:ext xmlns:c16="http://schemas.microsoft.com/office/drawing/2014/chart" uri="{C3380CC4-5D6E-409C-BE32-E72D297353CC}">
                <c16:uniqueId val="{00000009-D432-44F1-B3EF-9E105C48BC89}"/>
              </c:ext>
            </c:extLst>
          </c:dPt>
          <c:dPt>
            <c:idx val="5"/>
            <c:invertIfNegative val="0"/>
            <c:bubble3D val="0"/>
            <c:spPr>
              <a:solidFill>
                <a:srgbClr val="4AB1FE"/>
              </a:solidFill>
            </c:spPr>
            <c:extLst>
              <c:ext xmlns:c16="http://schemas.microsoft.com/office/drawing/2014/chart" uri="{C3380CC4-5D6E-409C-BE32-E72D297353CC}">
                <c16:uniqueId val="{0000000B-D432-44F1-B3EF-9E105C48BC89}"/>
              </c:ext>
            </c:extLst>
          </c:dPt>
          <c:dPt>
            <c:idx val="6"/>
            <c:invertIfNegative val="0"/>
            <c:bubble3D val="0"/>
            <c:spPr>
              <a:solidFill>
                <a:srgbClr val="4AB1FE"/>
              </a:solidFill>
            </c:spPr>
            <c:extLst>
              <c:ext xmlns:c16="http://schemas.microsoft.com/office/drawing/2014/chart" uri="{C3380CC4-5D6E-409C-BE32-E72D297353CC}">
                <c16:uniqueId val="{0000000D-D432-44F1-B3EF-9E105C48BC89}"/>
              </c:ext>
            </c:extLst>
          </c:dPt>
          <c:dPt>
            <c:idx val="7"/>
            <c:invertIfNegative val="0"/>
            <c:bubble3D val="0"/>
            <c:spPr>
              <a:solidFill>
                <a:srgbClr val="4AB1FE"/>
              </a:solidFill>
            </c:spPr>
            <c:extLst>
              <c:ext xmlns:c16="http://schemas.microsoft.com/office/drawing/2014/chart" uri="{C3380CC4-5D6E-409C-BE32-E72D297353CC}">
                <c16:uniqueId val="{0000000F-D432-44F1-B3EF-9E105C48BC89}"/>
              </c:ext>
            </c:extLst>
          </c:dPt>
          <c:dPt>
            <c:idx val="8"/>
            <c:invertIfNegative val="0"/>
            <c:bubble3D val="0"/>
            <c:spPr>
              <a:solidFill>
                <a:srgbClr val="4AB1FE"/>
              </a:solidFill>
            </c:spPr>
            <c:extLst>
              <c:ext xmlns:c16="http://schemas.microsoft.com/office/drawing/2014/chart" uri="{C3380CC4-5D6E-409C-BE32-E72D297353CC}">
                <c16:uniqueId val="{00000011-D432-44F1-B3EF-9E105C48BC89}"/>
              </c:ext>
            </c:extLst>
          </c:dPt>
          <c:dPt>
            <c:idx val="9"/>
            <c:invertIfNegative val="0"/>
            <c:bubble3D val="0"/>
            <c:spPr>
              <a:solidFill>
                <a:srgbClr val="4AB1FE"/>
              </a:solidFill>
            </c:spPr>
            <c:extLst>
              <c:ext xmlns:c16="http://schemas.microsoft.com/office/drawing/2014/chart" uri="{C3380CC4-5D6E-409C-BE32-E72D297353CC}">
                <c16:uniqueId val="{00000013-D432-44F1-B3EF-9E105C48BC89}"/>
              </c:ext>
            </c:extLst>
          </c:dPt>
          <c:dPt>
            <c:idx val="10"/>
            <c:invertIfNegative val="0"/>
            <c:bubble3D val="0"/>
            <c:spPr>
              <a:solidFill>
                <a:srgbClr val="F26B7A"/>
              </a:solidFill>
            </c:spPr>
            <c:extLst>
              <c:ext xmlns:c16="http://schemas.microsoft.com/office/drawing/2014/chart" uri="{C3380CC4-5D6E-409C-BE32-E72D297353CC}">
                <c16:uniqueId val="{00000015-D432-44F1-B3EF-9E105C48BC89}"/>
              </c:ext>
            </c:extLst>
          </c:dPt>
          <c:dPt>
            <c:idx val="11"/>
            <c:invertIfNegative val="0"/>
            <c:bubble3D val="0"/>
            <c:spPr>
              <a:solidFill>
                <a:srgbClr val="F26B7A"/>
              </a:solidFill>
            </c:spPr>
            <c:extLst>
              <c:ext xmlns:c16="http://schemas.microsoft.com/office/drawing/2014/chart" uri="{C3380CC4-5D6E-409C-BE32-E72D297353CC}">
                <c16:uniqueId val="{00000017-D432-44F1-B3EF-9E105C48BC89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>
                    <a:solidFill>
                      <a:srgbClr val="EAF2FB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Technology &amp; Data</c:v>
                </c:pt>
                <c:pt idx="1">
                  <c:v>Human Resources</c:v>
                </c:pt>
                <c:pt idx="2">
                  <c:v>Finance &amp; Accounting</c:v>
                </c:pt>
                <c:pt idx="3">
                  <c:v>Marketing &amp; Comm.</c:v>
                </c:pt>
                <c:pt idx="4">
                  <c:v>Engineering &amp; Tech</c:v>
                </c:pt>
                <c:pt idx="5">
                  <c:v>Other (unclassified)</c:v>
                </c:pt>
                <c:pt idx="6">
                  <c:v>Sales &amp; Cust. Service</c:v>
                </c:pt>
                <c:pt idx="7">
                  <c:v>Operations &amp; Logistics</c:v>
                </c:pt>
                <c:pt idx="8">
                  <c:v>Administration</c:v>
                </c:pt>
                <c:pt idx="9">
                  <c:v>Legal</c:v>
                </c:pt>
                <c:pt idx="10">
                  <c:v>Healthcare</c:v>
                </c:pt>
                <c:pt idx="11">
                  <c:v>Education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25.7</c:v>
                </c:pt>
                <c:pt idx="1">
                  <c:v>19.899999999999999</c:v>
                </c:pt>
                <c:pt idx="2">
                  <c:v>14.3</c:v>
                </c:pt>
                <c:pt idx="3">
                  <c:v>14.1</c:v>
                </c:pt>
                <c:pt idx="4">
                  <c:v>13.8</c:v>
                </c:pt>
                <c:pt idx="5">
                  <c:v>12.1</c:v>
                </c:pt>
                <c:pt idx="6">
                  <c:v>11.4</c:v>
                </c:pt>
                <c:pt idx="7">
                  <c:v>10.4</c:v>
                </c:pt>
                <c:pt idx="8">
                  <c:v>9.1999999999999993</c:v>
                </c:pt>
                <c:pt idx="9">
                  <c:v>7</c:v>
                </c:pt>
                <c:pt idx="10">
                  <c:v>5</c:v>
                </c:pt>
                <c:pt idx="11">
                  <c:v>4.5999999999999996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D432-44F1-B3EF-9E105C48BC8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2B4A75"/>
            </a:solidFill>
          </a:ln>
        </c:spPr>
        <c:txPr>
          <a:bodyPr/>
          <a:lstStyle/>
          <a:p>
            <a:pPr>
              <a:defRPr sz="700">
                <a:solidFill>
                  <a:srgbClr val="EAF2FB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700">
          <a:solidFill>
            <a:srgbClr val="EAF2FB"/>
          </a:solidFill>
        </a:defRPr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7047056-A4A4-49C6-B53A-A3B5AD2C9E0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56B0B6-1521-4655-A849-832BDEEDBBA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A7818-9FD1-4A4A-BBB8-A8F7A885158A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6D0097-1060-4E43-8794-A93E30064AC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9457E5-A2BA-4F1E-ACE4-06A1C8C83D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B95B5C-AE81-486B-8299-C690ADF087B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3229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068347-4327-4298-850E-31E39F309FB1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22D2F8-28A7-48E8-ADD3-E9583D47D8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918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705964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6143191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949378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717258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704116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2531824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671195405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19615459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04847522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8187019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2434695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453842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787631752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1967389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2106137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9237908"/>
      </p:ext>
    </p:extLst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7168720"/>
      </p:ext>
    </p:extLst>
  </p:cSld>
  <p:clrMapOvr>
    <a:masterClrMapping/>
  </p:clrMapOvr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62355897"/>
      </p:ext>
    </p:extLst>
  </p:cSld>
  <p:clrMapOvr>
    <a:masterClrMapping/>
  </p:clrMapOvr>
  <p:hf hd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3932241"/>
      </p:ext>
    </p:extLst>
  </p:cSld>
  <p:clrMapOvr>
    <a:masterClrMapping/>
  </p:clrMapOvr>
  <p:hf hd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05545463"/>
      </p:ext>
    </p:extLst>
  </p:cSld>
  <p:clrMapOvr>
    <a:masterClrMapping/>
  </p:clrMapOvr>
  <p:hf hd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4296709"/>
      </p:ext>
    </p:extLst>
  </p:cSld>
  <p:clrMapOvr>
    <a:masterClrMapping/>
  </p:clrMapOvr>
  <p:hf hd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64218449"/>
      </p:ext>
    </p:extLst>
  </p:cSld>
  <p:clrMapOvr>
    <a:masterClrMapping/>
  </p:clrMapOvr>
  <p:hf hdr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90292201"/>
      </p:ext>
    </p:extLst>
  </p:cSld>
  <p:clrMapOvr>
    <a:masterClrMapping/>
  </p:clrMapOvr>
  <p:hf hdr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2287719"/>
      </p:ext>
    </p:extLst>
  </p:cSld>
  <p:clrMapOvr>
    <a:masterClrMapping/>
  </p:clrMapOvr>
  <p:hf hdr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573991"/>
      </p:ext>
    </p:extLst>
  </p:cSld>
  <p:clrMapOvr>
    <a:masterClrMapping/>
  </p:clrMapOvr>
  <p:hf hdr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605128"/>
      </p:ext>
    </p:extLst>
  </p:cSld>
  <p:clrMapOvr>
    <a:masterClrMapping/>
  </p:clrMapOvr>
  <p:hf hdr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914356"/>
      </p:ext>
    </p:extLst>
  </p:cSld>
  <p:clrMapOvr>
    <a:masterClrMapping/>
  </p:clrMapOvr>
  <p:hf hdr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C7F6B47B-FE57-44F5-B5A8-26DF978AB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F9444BC-BA6E-47AE-9F54-D7B7A49832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5674" y="1327759"/>
            <a:ext cx="4989628" cy="1929505"/>
          </a:xfrm>
          <a:prstGeom prst="rect">
            <a:avLst/>
          </a:prstGeom>
        </p:spPr>
        <p:txBody>
          <a:bodyPr anchor="b"/>
          <a:lstStyle>
            <a:lvl1pPr>
              <a:defRPr sz="4800" cap="all" spc="400" baseline="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6ACD8B9-402D-4E40-BE1F-4106044481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934" y="3257264"/>
            <a:ext cx="4989628" cy="8160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8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2779125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bou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aphic 36">
            <a:extLst>
              <a:ext uri="{FF2B5EF4-FFF2-40B4-BE49-F238E27FC236}">
                <a16:creationId xmlns:a16="http://schemas.microsoft.com/office/drawing/2014/main" id="{65AAE033-7EA4-4A87-A126-29FE427645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A5F6FE17-A48F-4A3E-8719-1DE83CD6B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62048" y="1199853"/>
            <a:ext cx="3929901" cy="3929901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F73882-4B79-419D-89EE-4B7CED18D9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1623" y="2210810"/>
            <a:ext cx="4579970" cy="538038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EF50E1F4-245D-4104-AFDB-25D35D7C5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4661" y="2747550"/>
            <a:ext cx="5309918" cy="2872039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3A2FF74-415E-49BB-B2ED-E04C7B50BD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63453" y="1433033"/>
            <a:ext cx="3527091" cy="3463540"/>
          </a:xfrm>
          <a:prstGeom prst="ellipse">
            <a:avLst/>
          </a:prstGeom>
        </p:spPr>
        <p:txBody>
          <a:bodyPr/>
          <a:lstStyle>
            <a:lvl1pPr marL="0" indent="0" algn="ctr">
              <a:buFont typeface="+mj-lt"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0" name="Footer Placeholder 15">
            <a:extLst>
              <a:ext uri="{FF2B5EF4-FFF2-40B4-BE49-F238E27FC236}">
                <a16:creationId xmlns:a16="http://schemas.microsoft.com/office/drawing/2014/main" id="{1847553A-14C8-45EB-88C7-05CE63B7E3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1" name="Slide Number Placeholder 16">
            <a:extLst>
              <a:ext uri="{FF2B5EF4-FFF2-40B4-BE49-F238E27FC236}">
                <a16:creationId xmlns:a16="http://schemas.microsoft.com/office/drawing/2014/main" id="{E7FABA93-7D08-4CFE-B3A8-D44B1A0F36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2" name="Date Placeholder 14">
            <a:extLst>
              <a:ext uri="{FF2B5EF4-FFF2-40B4-BE49-F238E27FC236}">
                <a16:creationId xmlns:a16="http://schemas.microsoft.com/office/drawing/2014/main" id="{FBD26C03-0B97-464A-A39C-A1F339DBAC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11098657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obl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EC80EFA4-265B-48D2-AE72-8585EEED6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C648289-A550-4F4F-96C8-3D82FCE942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87069" y="695093"/>
            <a:ext cx="4919354" cy="667498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33EEFC4F-DE64-450E-9DD5-65D08E123C2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199594" y="1873815"/>
            <a:ext cx="2556579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38C58F5B-7BA2-42E8-B66A-4561678ADD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99595" y="2178444"/>
            <a:ext cx="2556579" cy="13282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6743AAE-DD8A-4954-B033-100DF6D9755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38997" y="1873815"/>
            <a:ext cx="2556578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7B5D3C5-66A2-486B-9B1D-A7075D150C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38997" y="2178444"/>
            <a:ext cx="2556578" cy="12910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AD063EDB-47FD-44F8-9344-12CBC2AE0B7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99595" y="4071261"/>
            <a:ext cx="2556577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94586DE3-CDE9-4337-A49D-C1031595E36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99596" y="4383943"/>
            <a:ext cx="2556577" cy="13282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64F0745D-06FC-4840-B9DF-3176DEDA6F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538997" y="4071261"/>
            <a:ext cx="2556578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F29A1EC1-1F01-46ED-BF67-15FE9E1206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38997" y="4375890"/>
            <a:ext cx="2556578" cy="12910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1" name="Footer Placeholder 15">
            <a:extLst>
              <a:ext uri="{FF2B5EF4-FFF2-40B4-BE49-F238E27FC236}">
                <a16:creationId xmlns:a16="http://schemas.microsoft.com/office/drawing/2014/main" id="{B2A74AF7-DFFE-4795-8CF0-8C90F6C3E5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2" name="Slide Number Placeholder 16">
            <a:extLst>
              <a:ext uri="{FF2B5EF4-FFF2-40B4-BE49-F238E27FC236}">
                <a16:creationId xmlns:a16="http://schemas.microsoft.com/office/drawing/2014/main" id="{13F4D90B-645E-4CFF-8AA0-91C269845F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" name="Date Placeholder 14">
            <a:extLst>
              <a:ext uri="{FF2B5EF4-FFF2-40B4-BE49-F238E27FC236}">
                <a16:creationId xmlns:a16="http://schemas.microsoft.com/office/drawing/2014/main" id="{21EA3114-5B31-47ED-9AB6-EE59E58037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389310455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ol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86D81B66-9FC1-4E48-808B-98B1726D4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747F51C0-908A-420C-B5BC-5685D0E952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9716" y="1823625"/>
            <a:ext cx="4719884" cy="580030"/>
          </a:xfrm>
          <a:prstGeom prst="rect">
            <a:avLst/>
          </a:prstGeom>
        </p:spPr>
        <p:txBody>
          <a:bodyPr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4F835D01-B0D4-49D8-B947-C2062305C5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9005" y="4230943"/>
            <a:ext cx="2640803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0B4ACDBA-7606-44B8-B1E1-C4750F8952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005" y="4546458"/>
            <a:ext cx="2640803" cy="161641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D24600D7-8A94-406B-9274-351140BE27D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37502" y="4234631"/>
            <a:ext cx="2640803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5FE6844F-9BC3-4E56-82B1-0B53BE292B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7503" y="4550146"/>
            <a:ext cx="2640803" cy="161641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105C7AE2-E0F2-4EA9-B804-774B125FB0D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4218499"/>
            <a:ext cx="2640803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4B70930A-D98B-43B3-BC32-B48D9D7F06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00" y="4534014"/>
            <a:ext cx="2640803" cy="161641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500DE4BC-2A21-4C62-8F5C-AFE1D0AEDFB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46967" y="4218499"/>
            <a:ext cx="2640803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0EEFD44C-4B64-4246-BC04-76812ED5E09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46967" y="4534014"/>
            <a:ext cx="2640803" cy="161641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0" name="Footer Placeholder 15">
            <a:extLst>
              <a:ext uri="{FF2B5EF4-FFF2-40B4-BE49-F238E27FC236}">
                <a16:creationId xmlns:a16="http://schemas.microsoft.com/office/drawing/2014/main" id="{AB492A3E-766F-42FE-A5F7-88807B5959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1" name="Slide Number Placeholder 16">
            <a:extLst>
              <a:ext uri="{FF2B5EF4-FFF2-40B4-BE49-F238E27FC236}">
                <a16:creationId xmlns:a16="http://schemas.microsoft.com/office/drawing/2014/main" id="{784AE79C-95F2-4A84-B62A-95B076FB02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2" name="Date Placeholder 14">
            <a:extLst>
              <a:ext uri="{FF2B5EF4-FFF2-40B4-BE49-F238E27FC236}">
                <a16:creationId xmlns:a16="http://schemas.microsoft.com/office/drawing/2014/main" id="{1C2E5CE3-E252-4255-BF5E-8B4F1F3A16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5E5C588-A831-4EB3-BFDF-78002F7D550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408479" y="3330145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" name="Picture Placeholder 13">
            <a:extLst>
              <a:ext uri="{FF2B5EF4-FFF2-40B4-BE49-F238E27FC236}">
                <a16:creationId xmlns:a16="http://schemas.microsoft.com/office/drawing/2014/main" id="{AD31BE3F-B09E-4BCC-947F-3D4DB153E35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266976" y="3330145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7" name="Picture Placeholder 13">
            <a:extLst>
              <a:ext uri="{FF2B5EF4-FFF2-40B4-BE49-F238E27FC236}">
                <a16:creationId xmlns:a16="http://schemas.microsoft.com/office/drawing/2014/main" id="{0BF7BBBD-C42C-408E-8F10-7B1BF3C53EF0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972085" y="3330145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13">
            <a:extLst>
              <a:ext uri="{FF2B5EF4-FFF2-40B4-BE49-F238E27FC236}">
                <a16:creationId xmlns:a16="http://schemas.microsoft.com/office/drawing/2014/main" id="{74FF5159-7129-4F52-B5B7-13F2D04EAD3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109232" y="3330145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781123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oduct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4076C2D-3CFB-4EFB-8012-9F6E65333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1D3A9EE-57EE-476A-A657-3A40198189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6218" y="690802"/>
            <a:ext cx="4936277" cy="575890"/>
          </a:xfrm>
          <a:prstGeom prst="rect">
            <a:avLst/>
          </a:prstGeom>
        </p:spPr>
        <p:txBody>
          <a:bodyPr/>
          <a:lstStyle>
            <a:lvl1pPr algn="l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2A0CB777-EF14-4BA6-A19D-697B165B1D3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90069" y="2568679"/>
            <a:ext cx="3008631" cy="3481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0053894D-FD48-4BB5-84D8-2EE54EC8D7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0069" y="2861988"/>
            <a:ext cx="3008630" cy="6366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8" name="Text Placeholder 14">
            <a:extLst>
              <a:ext uri="{FF2B5EF4-FFF2-40B4-BE49-F238E27FC236}">
                <a16:creationId xmlns:a16="http://schemas.microsoft.com/office/drawing/2014/main" id="{32A7FBEC-71F7-4A1F-82A1-C7FBFE05185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913979" y="2568679"/>
            <a:ext cx="3008631" cy="3481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00EDBC93-E454-47AD-B9C9-E7CCE8DE6B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913979" y="2861988"/>
            <a:ext cx="3008630" cy="6366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4" name="Text Placeholder 14">
            <a:extLst>
              <a:ext uri="{FF2B5EF4-FFF2-40B4-BE49-F238E27FC236}">
                <a16:creationId xmlns:a16="http://schemas.microsoft.com/office/drawing/2014/main" id="{E792D94E-72D4-43F1-8063-14A3F6270A3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90069" y="5044309"/>
            <a:ext cx="3008631" cy="3481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3" name="Text Placeholder 14">
            <a:extLst>
              <a:ext uri="{FF2B5EF4-FFF2-40B4-BE49-F238E27FC236}">
                <a16:creationId xmlns:a16="http://schemas.microsoft.com/office/drawing/2014/main" id="{C18EBA8F-5A95-4501-A602-A9889F0CE3A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190069" y="5337618"/>
            <a:ext cx="3008630" cy="6366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7" name="Text Placeholder 14">
            <a:extLst>
              <a:ext uri="{FF2B5EF4-FFF2-40B4-BE49-F238E27FC236}">
                <a16:creationId xmlns:a16="http://schemas.microsoft.com/office/drawing/2014/main" id="{AF03D6DF-70BB-4EC0-B7BF-94BB780FDF0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13980" y="5047681"/>
            <a:ext cx="3008631" cy="3481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6" name="Text Placeholder 14">
            <a:extLst>
              <a:ext uri="{FF2B5EF4-FFF2-40B4-BE49-F238E27FC236}">
                <a16:creationId xmlns:a16="http://schemas.microsoft.com/office/drawing/2014/main" id="{A21FAF3A-556C-4A61-B1C4-E6FB98BE40B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913980" y="5340990"/>
            <a:ext cx="3008630" cy="6366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2" name="Footer Placeholder 15">
            <a:extLst>
              <a:ext uri="{FF2B5EF4-FFF2-40B4-BE49-F238E27FC236}">
                <a16:creationId xmlns:a16="http://schemas.microsoft.com/office/drawing/2014/main" id="{54442D89-5EE7-4BC5-A35D-B0F93DD362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3" name="Slide Number Placeholder 16">
            <a:extLst>
              <a:ext uri="{FF2B5EF4-FFF2-40B4-BE49-F238E27FC236}">
                <a16:creationId xmlns:a16="http://schemas.microsoft.com/office/drawing/2014/main" id="{DC13E404-DE29-4300-A8D5-25F34585A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4" name="Date Placeholder 14">
            <a:extLst>
              <a:ext uri="{FF2B5EF4-FFF2-40B4-BE49-F238E27FC236}">
                <a16:creationId xmlns:a16="http://schemas.microsoft.com/office/drawing/2014/main" id="{1EAC24B5-8E72-46CA-9A6A-4A6D6EA2C0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1F11D19-3D38-460E-A8AF-F6A30642EC0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190069" y="1818852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F915DDB2-3A13-4240-8ECB-677499946C1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913979" y="1818852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4">
            <a:extLst>
              <a:ext uri="{FF2B5EF4-FFF2-40B4-BE49-F238E27FC236}">
                <a16:creationId xmlns:a16="http://schemas.microsoft.com/office/drawing/2014/main" id="{E9059CA0-144F-4780-BA0D-005B827AAEC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190069" y="4281832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4">
            <a:extLst>
              <a:ext uri="{FF2B5EF4-FFF2-40B4-BE49-F238E27FC236}">
                <a16:creationId xmlns:a16="http://schemas.microsoft.com/office/drawing/2014/main" id="{B770164C-988C-4217-B0E9-7D0DC17C8BC6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908115" y="4294030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01463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oduct Benef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ED540A63-9BB9-478A-BE65-7A9010183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67FB1D5-16C4-4AAC-9E31-560F596F8D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72555" y="1823626"/>
            <a:ext cx="4569572" cy="580029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C269BEF2-E65B-4046-B8D1-1E5DC6D5829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56595" y="2807310"/>
            <a:ext cx="5824073" cy="1940149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200000"/>
              </a:lnSpc>
              <a:spcBef>
                <a:spcPts val="0"/>
              </a:spcBef>
              <a:buNone/>
              <a:defRPr sz="18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8" name="Footer Placeholder 15">
            <a:extLst>
              <a:ext uri="{FF2B5EF4-FFF2-40B4-BE49-F238E27FC236}">
                <a16:creationId xmlns:a16="http://schemas.microsoft.com/office/drawing/2014/main" id="{D89CE923-C669-4E0E-8161-BB328133EE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Slide Number Placeholder 16">
            <a:extLst>
              <a:ext uri="{FF2B5EF4-FFF2-40B4-BE49-F238E27FC236}">
                <a16:creationId xmlns:a16="http://schemas.microsoft.com/office/drawing/2014/main" id="{C820EE41-4997-4CD3-B951-56ECA88425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0" name="Date Placeholder 14">
            <a:extLst>
              <a:ext uri="{FF2B5EF4-FFF2-40B4-BE49-F238E27FC236}">
                <a16:creationId xmlns:a16="http://schemas.microsoft.com/office/drawing/2014/main" id="{A2A3BC0C-B522-4DA2-BBC0-AC180D8B2C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404631373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5F31BC2D-187A-4ED3-8D67-C55187E53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47F2F5-8E72-425B-A8C2-2B3262F730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25440" y="2741026"/>
            <a:ext cx="5002478" cy="2357066"/>
          </a:xfrm>
          <a:prstGeom prst="rect">
            <a:avLst/>
          </a:prstGeom>
        </p:spPr>
        <p:txBody>
          <a:bodyPr/>
          <a:lstStyle>
            <a:lvl1pPr algn="ctr">
              <a:defRPr sz="4800" cap="all" spc="400" baseline="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23612984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siness Mod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490FC0B-50EB-42D6-A2A5-E02EE642E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04AFCE56-D794-4638-A3EC-63DCFB4B6F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5511" y="760406"/>
            <a:ext cx="5424988" cy="579245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318D6597-136D-4434-B628-D387BBEEC3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65511" y="3417877"/>
            <a:ext cx="2806280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0691DF94-6587-4325-9C04-970034F1A8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5511" y="3766050"/>
            <a:ext cx="2806280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A3CE4E75-7868-44AD-9AF2-753E07BE78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14520" y="3400925"/>
            <a:ext cx="2806280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8A9FE9C2-0801-4D41-A54B-E00BC7AB7C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14520" y="3749098"/>
            <a:ext cx="2806280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632FBCC2-2CDB-448A-AA61-8D99495226A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3529" y="3400925"/>
            <a:ext cx="2692240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F6A4D9D-1690-4C0A-9F62-1FE93C0145F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63529" y="3749098"/>
            <a:ext cx="2692240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0" name="Footer Placeholder 15">
            <a:extLst>
              <a:ext uri="{FF2B5EF4-FFF2-40B4-BE49-F238E27FC236}">
                <a16:creationId xmlns:a16="http://schemas.microsoft.com/office/drawing/2014/main" id="{48863DDD-C3CC-439D-B738-34F6E8960A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1" name="Slide Number Placeholder 16">
            <a:extLst>
              <a:ext uri="{FF2B5EF4-FFF2-40B4-BE49-F238E27FC236}">
                <a16:creationId xmlns:a16="http://schemas.microsoft.com/office/drawing/2014/main" id="{A4788388-29C8-4E9F-BF82-A1648088A8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2" name="Date Placeholder 14">
            <a:extLst>
              <a:ext uri="{FF2B5EF4-FFF2-40B4-BE49-F238E27FC236}">
                <a16:creationId xmlns:a16="http://schemas.microsoft.com/office/drawing/2014/main" id="{5E6E1CB5-0E5F-4B44-8044-4010565FCF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124448676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rket Opportunity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E96CB8F-A88F-40C3-A65B-8C33A16A0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086E70-8E77-436D-93CE-4BCD3EC94B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799" y="1380501"/>
            <a:ext cx="5097428" cy="991689"/>
          </a:xfrm>
          <a:prstGeom prst="rect">
            <a:avLst/>
          </a:prstGeom>
        </p:spPr>
        <p:txBody>
          <a:bodyPr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C95B0D27-123C-4F09-AEDC-7874964B77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2337" y="3400981"/>
            <a:ext cx="2693128" cy="991689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5400" kern="0" cap="all" spc="4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F3772143-8573-4FED-977E-651FC59C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2336" y="4670980"/>
            <a:ext cx="2693129" cy="1151633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4FD80858-A8CA-496F-8CC0-5ACDBE65112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87933" y="3400981"/>
            <a:ext cx="2693128" cy="991689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5400" kern="0" cap="all" spc="4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2B840B1F-9319-4653-84C5-FF1FDC5E9D9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87931" y="4670980"/>
            <a:ext cx="2693129" cy="1151633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0882E4D8-D2AA-4EA0-BBCE-50334E8D16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3530" y="3400981"/>
            <a:ext cx="2693128" cy="991689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5400" kern="0" cap="all" spc="4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97EFBCD4-F812-493F-895A-3449020A065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83528" y="4670980"/>
            <a:ext cx="2693129" cy="1151633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0" name="Footer Placeholder 15">
            <a:extLst>
              <a:ext uri="{FF2B5EF4-FFF2-40B4-BE49-F238E27FC236}">
                <a16:creationId xmlns:a16="http://schemas.microsoft.com/office/drawing/2014/main" id="{698D43C2-06AB-4549-BCD0-CBDCA06532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1" name="Slide Number Placeholder 16">
            <a:extLst>
              <a:ext uri="{FF2B5EF4-FFF2-40B4-BE49-F238E27FC236}">
                <a16:creationId xmlns:a16="http://schemas.microsoft.com/office/drawing/2014/main" id="{7B2AB1D3-DFF0-43A8-BDE0-52FB314E03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2" name="Date Placeholder 14">
            <a:extLst>
              <a:ext uri="{FF2B5EF4-FFF2-40B4-BE49-F238E27FC236}">
                <a16:creationId xmlns:a16="http://schemas.microsoft.com/office/drawing/2014/main" id="{28A81ABF-135E-483F-9992-6F79C2F559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159011489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rket Opportunity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aphic 36">
            <a:extLst>
              <a:ext uri="{FF2B5EF4-FFF2-40B4-BE49-F238E27FC236}">
                <a16:creationId xmlns:a16="http://schemas.microsoft.com/office/drawing/2014/main" id="{133E6176-F4F6-41F9-8F2A-BA6586E16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8AC667-531B-4E40-98C6-B36847DE06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799" y="1377876"/>
            <a:ext cx="5097428" cy="918377"/>
          </a:xfrm>
          <a:prstGeom prst="rect">
            <a:avLst/>
          </a:prstGeom>
        </p:spPr>
        <p:txBody>
          <a:bodyPr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42930722-7AFE-41FC-8830-E2075CE783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35012" y="2724048"/>
            <a:ext cx="1786461" cy="107234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cap="all" spc="4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4FD0E59A-1834-4F86-8ED3-1EBC643224D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67209" y="2930881"/>
            <a:ext cx="3639904" cy="38774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7084F479-66F8-4110-96A2-F3A27ED1C20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67209" y="3282057"/>
            <a:ext cx="3639904" cy="4817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D083869-3E3D-40A3-AE1C-3384E7096A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35012" y="3882118"/>
            <a:ext cx="1786461" cy="107234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cap="all" spc="4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ECD259C4-54A9-4BCA-A693-5A8F91D824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67209" y="4097257"/>
            <a:ext cx="3639905" cy="38774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3099E6DD-0A81-4AD6-97AD-DB777418E5D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67209" y="4448433"/>
            <a:ext cx="3639905" cy="4817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01E19938-3E97-4D01-9075-1BB1AF8DDF0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535012" y="5046627"/>
            <a:ext cx="1786461" cy="107234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cap="all" spc="4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FA19E736-C7E5-448A-AC90-0EB1D902C0D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58730" y="5267189"/>
            <a:ext cx="3639905" cy="38774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4C139082-0147-4871-8F86-8D4DFC57E88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58730" y="5618365"/>
            <a:ext cx="3639905" cy="4817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21" name="Footer Placeholder 15">
            <a:extLst>
              <a:ext uri="{FF2B5EF4-FFF2-40B4-BE49-F238E27FC236}">
                <a16:creationId xmlns:a16="http://schemas.microsoft.com/office/drawing/2014/main" id="{97BCF052-161B-4AD4-AE2D-DED3FA964C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2" name="Slide Number Placeholder 16">
            <a:extLst>
              <a:ext uri="{FF2B5EF4-FFF2-40B4-BE49-F238E27FC236}">
                <a16:creationId xmlns:a16="http://schemas.microsoft.com/office/drawing/2014/main" id="{E388F47C-0B7F-4C1B-B356-52A1CB56DD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3" name="Date Placeholder 14">
            <a:extLst>
              <a:ext uri="{FF2B5EF4-FFF2-40B4-BE49-F238E27FC236}">
                <a16:creationId xmlns:a16="http://schemas.microsoft.com/office/drawing/2014/main" id="{4654010E-C1FB-4195-AD8B-03A8DAE012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185707772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ur Compet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phic 30">
            <a:extLst>
              <a:ext uri="{FF2B5EF4-FFF2-40B4-BE49-F238E27FC236}">
                <a16:creationId xmlns:a16="http://schemas.microsoft.com/office/drawing/2014/main" id="{84044BB2-E43C-47D4-AA71-04F22AA35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0F929B-B0E5-4A66-B6D7-462C68EF7A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4082" y="2232234"/>
            <a:ext cx="7323836" cy="743753"/>
          </a:xfrm>
          <a:prstGeom prst="rect">
            <a:avLst/>
          </a:prstGeom>
        </p:spPr>
        <p:txBody>
          <a:bodyPr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04A0468C-03A1-433C-BEB5-89CD0787ABA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69369" y="3317783"/>
            <a:ext cx="4172533" cy="2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1345DEAC-8D5A-44A0-9EA3-9A2039ADD04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69369" y="3651424"/>
            <a:ext cx="4172533" cy="232965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D2839B01-8B79-4655-BADE-8F0A935193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72448" y="3317783"/>
            <a:ext cx="4172533" cy="2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D0AFF7FE-E069-4C57-9F9F-909B7FE43E9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72448" y="3651424"/>
            <a:ext cx="4172533" cy="232965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1" name="Footer Placeholder 15">
            <a:extLst>
              <a:ext uri="{FF2B5EF4-FFF2-40B4-BE49-F238E27FC236}">
                <a16:creationId xmlns:a16="http://schemas.microsoft.com/office/drawing/2014/main" id="{95A4BAFB-A1C5-4E01-9E16-ED02AADB1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2" name="Slide Number Placeholder 16">
            <a:extLst>
              <a:ext uri="{FF2B5EF4-FFF2-40B4-BE49-F238E27FC236}">
                <a16:creationId xmlns:a16="http://schemas.microsoft.com/office/drawing/2014/main" id="{D2409207-E360-4301-9134-4DA109683D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3" name="Date Placeholder 14">
            <a:extLst>
              <a:ext uri="{FF2B5EF4-FFF2-40B4-BE49-F238E27FC236}">
                <a16:creationId xmlns:a16="http://schemas.microsoft.com/office/drawing/2014/main" id="{F78AA50C-2DC6-46C5-B2CE-FB29A305F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147116456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ur Competition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172C710-E0AE-4BB2-88CC-99E77C188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4C9529-8AA8-4D29-9375-C579768868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4107" y="501519"/>
            <a:ext cx="10515600" cy="492025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68E86424-D329-4314-90E5-3475B98D2D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27206" y="1599947"/>
            <a:ext cx="1706965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64DB45FF-E618-4122-91A4-A6E4F2B7FCA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423421" y="2378452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cap="all" spc="20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9D03616C-C870-402E-9CD2-D61A8C881CE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43586" y="2129182"/>
            <a:ext cx="1706965" cy="104857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49" name="Text Placeholder 14">
            <a:extLst>
              <a:ext uri="{FF2B5EF4-FFF2-40B4-BE49-F238E27FC236}">
                <a16:creationId xmlns:a16="http://schemas.microsoft.com/office/drawing/2014/main" id="{1EFBBB7D-BA85-47E3-B62F-AA1F2F44FB5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34399" y="3528829"/>
            <a:ext cx="1209143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956FCC53-780F-4831-91B6-1F8A24502CB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31018" y="3528829"/>
            <a:ext cx="1380681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5A939BCA-4047-481F-B0C2-85F9AFDDFAF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22436" y="4634331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cap="all" spc="200" baseline="0">
                <a:solidFill>
                  <a:schemeClr val="accent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EEACD572-F95D-4ABE-9CC6-03D3CAF89EB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59913" y="4459860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46" name="Text Placeholder 14">
            <a:extLst>
              <a:ext uri="{FF2B5EF4-FFF2-40B4-BE49-F238E27FC236}">
                <a16:creationId xmlns:a16="http://schemas.microsoft.com/office/drawing/2014/main" id="{F21A51C9-DB80-45BF-8C5D-A0236927289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37403" y="4321788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cap="all" spc="200" baseline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AAF01185-D17F-4327-A264-7BA9443440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927206" y="5468790"/>
            <a:ext cx="1706965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48" name="Text Placeholder 14">
            <a:extLst>
              <a:ext uri="{FF2B5EF4-FFF2-40B4-BE49-F238E27FC236}">
                <a16:creationId xmlns:a16="http://schemas.microsoft.com/office/drawing/2014/main" id="{0F026DA0-6868-4098-AA73-18F8CB27509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86546" y="5195673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cap="all" spc="20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6886378-0368-485F-8D6E-3C9CB4C63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447369" y="3774842"/>
            <a:ext cx="4683649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8EB2C4E-9EF3-4CC7-9BDE-ED5598CCB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4780689" y="2091972"/>
            <a:ext cx="4678" cy="3376818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15">
            <a:extLst>
              <a:ext uri="{FF2B5EF4-FFF2-40B4-BE49-F238E27FC236}">
                <a16:creationId xmlns:a16="http://schemas.microsoft.com/office/drawing/2014/main" id="{95A4BAFB-A1C5-4E01-9E16-ED02AADB1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2" name="Slide Number Placeholder 16">
            <a:extLst>
              <a:ext uri="{FF2B5EF4-FFF2-40B4-BE49-F238E27FC236}">
                <a16:creationId xmlns:a16="http://schemas.microsoft.com/office/drawing/2014/main" id="{D2409207-E360-4301-9134-4DA109683D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3" name="Date Placeholder 14">
            <a:extLst>
              <a:ext uri="{FF2B5EF4-FFF2-40B4-BE49-F238E27FC236}">
                <a16:creationId xmlns:a16="http://schemas.microsoft.com/office/drawing/2014/main" id="{F78AA50C-2DC6-46C5-B2CE-FB29A305F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275850866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rowth Strate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FEDCC43F-6D79-4D9A-A842-74287B40D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3371"/>
            <a:ext cx="1219200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8255D77-6260-4F8F-86E3-D0AAF36FA4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94345" y="1158710"/>
            <a:ext cx="5611660" cy="677782"/>
          </a:xfrm>
          <a:prstGeom prst="rect">
            <a:avLst/>
          </a:prstGeom>
        </p:spPr>
        <p:txBody>
          <a:bodyPr anchor="b"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C91A828-665B-4FC2-950E-370DF47348C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19730" y="1836492"/>
            <a:ext cx="5152539" cy="71845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0BE18AA7-27E7-4763-A428-079E43A450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833290" y="3262556"/>
            <a:ext cx="1706965" cy="104857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6ED488B3-3B38-4DE8-8789-E9C406DB652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053332" y="3262556"/>
            <a:ext cx="1706965" cy="104857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5717E8AA-E5DC-43D1-BED9-1A8F554EB61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197008" y="3262556"/>
            <a:ext cx="1706965" cy="104857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83A9D178-AD0E-4E87-97B3-88B79A533B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62028" y="4704557"/>
            <a:ext cx="2431015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BF8B39EE-8EB7-4880-A9FE-9F98D23984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691306" y="4704558"/>
            <a:ext cx="2431015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C74686F1-FD3B-4529-9DBC-C6E34312C5C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834982" y="4704557"/>
            <a:ext cx="2431015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Footer Placeholder 15">
            <a:extLst>
              <a:ext uri="{FF2B5EF4-FFF2-40B4-BE49-F238E27FC236}">
                <a16:creationId xmlns:a16="http://schemas.microsoft.com/office/drawing/2014/main" id="{0A8B5FF2-6B96-4FE7-A6ED-0C89D74FAD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16">
            <a:extLst>
              <a:ext uri="{FF2B5EF4-FFF2-40B4-BE49-F238E27FC236}">
                <a16:creationId xmlns:a16="http://schemas.microsoft.com/office/drawing/2014/main" id="{B8BB57A8-7823-42A3-BA84-96690BFFDC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4" name="Date Placeholder 14">
            <a:extLst>
              <a:ext uri="{FF2B5EF4-FFF2-40B4-BE49-F238E27FC236}">
                <a16:creationId xmlns:a16="http://schemas.microsoft.com/office/drawing/2014/main" id="{902A41BF-FE61-48B9-A0B1-94AAB15381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233074505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ra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raphic 35">
            <a:extLst>
              <a:ext uri="{FF2B5EF4-FFF2-40B4-BE49-F238E27FC236}">
                <a16:creationId xmlns:a16="http://schemas.microsoft.com/office/drawing/2014/main" id="{41C2529C-151F-488B-A358-D60A3D5521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3371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E2EB21-CF4E-4578-820A-EACF488B17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6975" y="1144939"/>
            <a:ext cx="5473874" cy="687833"/>
          </a:xfrm>
          <a:prstGeom prst="rect">
            <a:avLst/>
          </a:prstGeom>
        </p:spPr>
        <p:txBody>
          <a:bodyPr anchor="b"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7F450FCB-3FE4-489F-A4BA-4BF492C226C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19730" y="1836492"/>
            <a:ext cx="5152539" cy="71845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EB6054A1-FB6D-4599-BAA9-5A51A0FA8C5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3991" y="2822318"/>
            <a:ext cx="3574251" cy="44876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none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054896-ABA6-49DF-9D5D-B2E6224DD442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866775" y="3333750"/>
            <a:ext cx="4352925" cy="26368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5E9FFDEA-766B-48BC-B5E5-F06563BF4DE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9875" y="2829932"/>
            <a:ext cx="3574251" cy="44876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none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2" name="Footer Placeholder 15">
            <a:extLst>
              <a:ext uri="{FF2B5EF4-FFF2-40B4-BE49-F238E27FC236}">
                <a16:creationId xmlns:a16="http://schemas.microsoft.com/office/drawing/2014/main" id="{067B5EA1-9C03-415F-A792-0E81289DB3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16">
            <a:extLst>
              <a:ext uri="{FF2B5EF4-FFF2-40B4-BE49-F238E27FC236}">
                <a16:creationId xmlns:a16="http://schemas.microsoft.com/office/drawing/2014/main" id="{258AB827-653F-449B-8FE9-EC1E4F1C15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4" name="Date Placeholder 14">
            <a:extLst>
              <a:ext uri="{FF2B5EF4-FFF2-40B4-BE49-F238E27FC236}">
                <a16:creationId xmlns:a16="http://schemas.microsoft.com/office/drawing/2014/main" id="{045230A5-30E4-4168-93C9-124C889B63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  <p:sp>
        <p:nvSpPr>
          <p:cNvPr id="34" name="Content Placeholder 3">
            <a:extLst>
              <a:ext uri="{FF2B5EF4-FFF2-40B4-BE49-F238E27FC236}">
                <a16:creationId xmlns:a16="http://schemas.microsoft.com/office/drawing/2014/main" id="{C1979EE6-6944-48F0-87CE-65E90A3ACC71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6433647" y="3333750"/>
            <a:ext cx="4352925" cy="26368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3798983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-Year Action P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raphic 119">
            <a:extLst>
              <a:ext uri="{FF2B5EF4-FFF2-40B4-BE49-F238E27FC236}">
                <a16:creationId xmlns:a16="http://schemas.microsoft.com/office/drawing/2014/main" id="{0D59F18F-5BD3-4E80-A69E-6D92DA9BB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0" name="Group 99">
            <a:extLst>
              <a:ext uri="{FF2B5EF4-FFF2-40B4-BE49-F238E27FC236}">
                <a16:creationId xmlns:a16="http://schemas.microsoft.com/office/drawing/2014/main" id="{79CFC79B-A403-4086-AB1A-E4F1F5AC3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010137" y="2689356"/>
            <a:ext cx="8510121" cy="0"/>
            <a:chOff x="1504814" y="2488864"/>
            <a:chExt cx="8510121" cy="0"/>
          </a:xfrm>
        </p:grpSpPr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3993C126-30E8-42C9-97ED-B7968CE61D8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04814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710C08B4-5A67-4383-9733-CF6DCA952D8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301137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9736A6D3-72B8-4ADD-83D7-F905F1EB82F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83776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7C048AE4-D798-4F1B-874C-F9044ECC860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880099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224A7533-05E8-464C-81E3-83136E632A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655896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714E820A-336F-43A8-AB0D-875A28FB90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52219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6D557188-FB50-4CF1-85AD-28747D97DC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234858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1AF23435-A9FF-4958-AAD2-BC57F32090C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031181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3B538E04-AA2E-459F-8D6B-7272BF9117A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813820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379A5921-876C-47AA-BF02-FADD423D79B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610143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9B30A0A8-B885-4ACC-A172-7A4408F0C0B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399625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3B7C7B2-16AE-4434-A8AD-0977BCB945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1698" y="512299"/>
            <a:ext cx="10515600" cy="727388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1" name="Text Placeholder 14">
            <a:extLst>
              <a:ext uri="{FF2B5EF4-FFF2-40B4-BE49-F238E27FC236}">
                <a16:creationId xmlns:a16="http://schemas.microsoft.com/office/drawing/2014/main" id="{53B0593C-E961-4FCF-8FFD-E10C0FD17BB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92423" y="1780403"/>
            <a:ext cx="1440088" cy="58624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2" name="Text Placeholder 14">
            <a:extLst>
              <a:ext uri="{FF2B5EF4-FFF2-40B4-BE49-F238E27FC236}">
                <a16:creationId xmlns:a16="http://schemas.microsoft.com/office/drawing/2014/main" id="{82A98F85-0B8A-4F76-813C-C9E7A0AD8804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360668" y="1780403"/>
            <a:ext cx="1440088" cy="58624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3" name="Text Placeholder 14">
            <a:extLst>
              <a:ext uri="{FF2B5EF4-FFF2-40B4-BE49-F238E27FC236}">
                <a16:creationId xmlns:a16="http://schemas.microsoft.com/office/drawing/2014/main" id="{0E645547-1191-4919-804B-D1DC905F368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307743" y="1780403"/>
            <a:ext cx="1440088" cy="58624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3" name="Text Placeholder 14">
            <a:extLst>
              <a:ext uri="{FF2B5EF4-FFF2-40B4-BE49-F238E27FC236}">
                <a16:creationId xmlns:a16="http://schemas.microsoft.com/office/drawing/2014/main" id="{70437561-3145-4AA5-B5BF-FC2748828C0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5322" y="2436036"/>
            <a:ext cx="1194201" cy="50172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year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25924F20-2A98-40F8-8A1C-BF4BCDC2E9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75402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DFA884F6-1E9E-4CB8-B4C3-3699E85DC2F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64817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7C52539B-C569-4941-87E7-C3EFCFA1B40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54232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5" name="Text Placeholder 14">
            <a:extLst>
              <a:ext uri="{FF2B5EF4-FFF2-40B4-BE49-F238E27FC236}">
                <a16:creationId xmlns:a16="http://schemas.microsoft.com/office/drawing/2014/main" id="{9B18D372-BEFC-4475-B0A5-A798E6CFD62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43647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6" name="Text Placeholder 14">
            <a:extLst>
              <a:ext uri="{FF2B5EF4-FFF2-40B4-BE49-F238E27FC236}">
                <a16:creationId xmlns:a16="http://schemas.microsoft.com/office/drawing/2014/main" id="{19FE16DC-63F2-4A3D-A743-C8480AE391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33062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7" name="Text Placeholder 14">
            <a:extLst>
              <a:ext uri="{FF2B5EF4-FFF2-40B4-BE49-F238E27FC236}">
                <a16:creationId xmlns:a16="http://schemas.microsoft.com/office/drawing/2014/main" id="{23422F26-58EB-43A7-A33C-2ADBC2320CF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622477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8" name="Text Placeholder 14">
            <a:extLst>
              <a:ext uri="{FF2B5EF4-FFF2-40B4-BE49-F238E27FC236}">
                <a16:creationId xmlns:a16="http://schemas.microsoft.com/office/drawing/2014/main" id="{D9B50A50-093B-4DCA-929F-AF8AB169A47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11892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9" name="Text Placeholder 14">
            <a:extLst>
              <a:ext uri="{FF2B5EF4-FFF2-40B4-BE49-F238E27FC236}">
                <a16:creationId xmlns:a16="http://schemas.microsoft.com/office/drawing/2014/main" id="{A60753DF-99A3-4BAF-AA47-4AD0BEAEAED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201307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470DC77E-070B-46BC-B95C-A323D9EEC9D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90722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1" name="Text Placeholder 14">
            <a:extLst>
              <a:ext uri="{FF2B5EF4-FFF2-40B4-BE49-F238E27FC236}">
                <a16:creationId xmlns:a16="http://schemas.microsoft.com/office/drawing/2014/main" id="{E7D1C36D-258C-4B31-95BB-6C0127AEEAC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80137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2" name="Text Placeholder 14">
            <a:extLst>
              <a:ext uri="{FF2B5EF4-FFF2-40B4-BE49-F238E27FC236}">
                <a16:creationId xmlns:a16="http://schemas.microsoft.com/office/drawing/2014/main" id="{214A7064-793B-4F30-9A33-42069EF6048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569552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3" name="Text Placeholder 14">
            <a:extLst>
              <a:ext uri="{FF2B5EF4-FFF2-40B4-BE49-F238E27FC236}">
                <a16:creationId xmlns:a16="http://schemas.microsoft.com/office/drawing/2014/main" id="{5868F5A5-3ED0-4C78-A557-F4B94B123D9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358963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4" name="Text Placeholder 14">
            <a:extLst>
              <a:ext uri="{FF2B5EF4-FFF2-40B4-BE49-F238E27FC236}">
                <a16:creationId xmlns:a16="http://schemas.microsoft.com/office/drawing/2014/main" id="{A727AB6E-B8DB-4DE5-BF92-3EDCA58B0CD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992423" y="3563114"/>
            <a:ext cx="1440088" cy="58624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5" name="Text Placeholder 14">
            <a:extLst>
              <a:ext uri="{FF2B5EF4-FFF2-40B4-BE49-F238E27FC236}">
                <a16:creationId xmlns:a16="http://schemas.microsoft.com/office/drawing/2014/main" id="{9E6A60C5-3054-4500-AE04-5766330FED6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939498" y="3563114"/>
            <a:ext cx="1440088" cy="58624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none" spc="0" baseline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6" name="Text Placeholder 14">
            <a:extLst>
              <a:ext uri="{FF2B5EF4-FFF2-40B4-BE49-F238E27FC236}">
                <a16:creationId xmlns:a16="http://schemas.microsoft.com/office/drawing/2014/main" id="{3984C0A5-C9AE-4249-8578-A0909B41B45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886573" y="3563114"/>
            <a:ext cx="1440088" cy="58624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4" name="Text Placeholder 14">
            <a:extLst>
              <a:ext uri="{FF2B5EF4-FFF2-40B4-BE49-F238E27FC236}">
                <a16:creationId xmlns:a16="http://schemas.microsoft.com/office/drawing/2014/main" id="{4C9A8467-48EB-4C64-8A54-0526649B91A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05322" y="4134112"/>
            <a:ext cx="1194201" cy="50172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year</a:t>
            </a:r>
          </a:p>
        </p:txBody>
      </p:sp>
      <p:sp>
        <p:nvSpPr>
          <p:cNvPr id="66" name="Text Placeholder 14">
            <a:extLst>
              <a:ext uri="{FF2B5EF4-FFF2-40B4-BE49-F238E27FC236}">
                <a16:creationId xmlns:a16="http://schemas.microsoft.com/office/drawing/2014/main" id="{11C267AB-B4C6-4059-B2A8-DCF715B29EC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75402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7" name="Text Placeholder 14">
            <a:extLst>
              <a:ext uri="{FF2B5EF4-FFF2-40B4-BE49-F238E27FC236}">
                <a16:creationId xmlns:a16="http://schemas.microsoft.com/office/drawing/2014/main" id="{3BF85ABF-DD16-49D4-9DD2-C35A92EAFE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464817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8" name="Text Placeholder 14">
            <a:extLst>
              <a:ext uri="{FF2B5EF4-FFF2-40B4-BE49-F238E27FC236}">
                <a16:creationId xmlns:a16="http://schemas.microsoft.com/office/drawing/2014/main" id="{997C6187-BB2F-413C-AC7B-BBAA249AFD0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54232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9" name="Text Placeholder 14">
            <a:extLst>
              <a:ext uri="{FF2B5EF4-FFF2-40B4-BE49-F238E27FC236}">
                <a16:creationId xmlns:a16="http://schemas.microsoft.com/office/drawing/2014/main" id="{96C1DC7A-93B1-4894-AD2D-AC636AC3DA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43647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0" name="Text Placeholder 14">
            <a:extLst>
              <a:ext uri="{FF2B5EF4-FFF2-40B4-BE49-F238E27FC236}">
                <a16:creationId xmlns:a16="http://schemas.microsoft.com/office/drawing/2014/main" id="{872C35DC-A640-4C27-A87F-380E7440F3F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33062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1" name="Text Placeholder 14">
            <a:extLst>
              <a:ext uri="{FF2B5EF4-FFF2-40B4-BE49-F238E27FC236}">
                <a16:creationId xmlns:a16="http://schemas.microsoft.com/office/drawing/2014/main" id="{02969206-EA35-4C29-B0EB-3FF5636A8AB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622477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2" name="Text Placeholder 14">
            <a:extLst>
              <a:ext uri="{FF2B5EF4-FFF2-40B4-BE49-F238E27FC236}">
                <a16:creationId xmlns:a16="http://schemas.microsoft.com/office/drawing/2014/main" id="{79B642F3-327B-4AF1-85D8-5BE8BA286A1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11892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3" name="Text Placeholder 14">
            <a:extLst>
              <a:ext uri="{FF2B5EF4-FFF2-40B4-BE49-F238E27FC236}">
                <a16:creationId xmlns:a16="http://schemas.microsoft.com/office/drawing/2014/main" id="{0D45BD78-6B19-4D6A-A164-2017ABC7836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201307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4" name="Text Placeholder 14">
            <a:extLst>
              <a:ext uri="{FF2B5EF4-FFF2-40B4-BE49-F238E27FC236}">
                <a16:creationId xmlns:a16="http://schemas.microsoft.com/office/drawing/2014/main" id="{494676D6-C880-49A1-B83E-2D632934D66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990722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5" name="Text Placeholder 14">
            <a:extLst>
              <a:ext uri="{FF2B5EF4-FFF2-40B4-BE49-F238E27FC236}">
                <a16:creationId xmlns:a16="http://schemas.microsoft.com/office/drawing/2014/main" id="{0C07048D-5DEB-4348-8A16-DB77BE49097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80137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6" name="Text Placeholder 14">
            <a:extLst>
              <a:ext uri="{FF2B5EF4-FFF2-40B4-BE49-F238E27FC236}">
                <a16:creationId xmlns:a16="http://schemas.microsoft.com/office/drawing/2014/main" id="{DCED3D6A-EF8C-4F42-B23B-30ED2C33EAB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69552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7" name="Text Placeholder 14">
            <a:extLst>
              <a:ext uri="{FF2B5EF4-FFF2-40B4-BE49-F238E27FC236}">
                <a16:creationId xmlns:a16="http://schemas.microsoft.com/office/drawing/2014/main" id="{E966B469-8508-4732-8A0A-58429BD0E7B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358963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97A40874-7B89-4A5D-9562-21D6994C39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010137" y="4391183"/>
            <a:ext cx="8510121" cy="0"/>
            <a:chOff x="1504814" y="2488864"/>
            <a:chExt cx="8510121" cy="0"/>
          </a:xfrm>
        </p:grpSpPr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32860379-5BA3-4D4F-BAC0-C7783F7552D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04814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DF221EBE-F43A-48CE-8E3D-D0777E2424C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301137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C70DFAA8-4E1B-45F7-B640-2C00AAC65BA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83776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067A42DA-2625-4CA8-AEC6-2FBCF01A927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880099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89B3F7FF-9011-4E3D-9DA2-C144F9B7A5E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655896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30EEA406-B4BE-4A22-9879-A86700556BE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52219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F5F5190B-A9FA-4925-81A3-8AF19F70933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234858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93F58E8B-B6D9-46C2-95B1-755AD7B028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031181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46BED819-4195-456A-8507-0CC09BDCFED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813820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23541D3E-8275-4522-81E7-C83B829D83C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610143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6CD34DF1-D500-4560-A303-92050A81120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399625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Footer Placeholder 15">
            <a:extLst>
              <a:ext uri="{FF2B5EF4-FFF2-40B4-BE49-F238E27FC236}">
                <a16:creationId xmlns:a16="http://schemas.microsoft.com/office/drawing/2014/main" id="{47D7FFC8-D319-4F8D-9F95-39BB21C0EE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16">
            <a:extLst>
              <a:ext uri="{FF2B5EF4-FFF2-40B4-BE49-F238E27FC236}">
                <a16:creationId xmlns:a16="http://schemas.microsoft.com/office/drawing/2014/main" id="{8DDD48EC-9DE8-4C43-881A-2597A1DDE2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4" name="Date Placeholder 14">
            <a:extLst>
              <a:ext uri="{FF2B5EF4-FFF2-40B4-BE49-F238E27FC236}">
                <a16:creationId xmlns:a16="http://schemas.microsoft.com/office/drawing/2014/main" id="{650B4D37-2FE8-4F27-8951-CF9D947DBA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132855885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inanci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0ADA1982-C216-4747-ACCC-39BC3F50B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FCD2AA7-E8A5-43C8-A284-AB4951189D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949" y="527542"/>
            <a:ext cx="6922876" cy="687834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D681FF-F6BE-41D5-AE6C-B4110384B0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3738" y="1128713"/>
            <a:ext cx="7654925" cy="50688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Footer Placeholder 15">
            <a:extLst>
              <a:ext uri="{FF2B5EF4-FFF2-40B4-BE49-F238E27FC236}">
                <a16:creationId xmlns:a16="http://schemas.microsoft.com/office/drawing/2014/main" id="{A60E8AF0-85D7-4035-8301-57B3B4977F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16">
            <a:extLst>
              <a:ext uri="{FF2B5EF4-FFF2-40B4-BE49-F238E27FC236}">
                <a16:creationId xmlns:a16="http://schemas.microsoft.com/office/drawing/2014/main" id="{481785BD-DC42-4BBE-8C62-BCE6F0EA47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4" name="Date Placeholder 14">
            <a:extLst>
              <a:ext uri="{FF2B5EF4-FFF2-40B4-BE49-F238E27FC236}">
                <a16:creationId xmlns:a16="http://schemas.microsoft.com/office/drawing/2014/main" id="{E7886D57-8CCD-43A4-AA49-E96D2EE3EB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304019001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eet The Team 4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6F8B9974-85ED-46AA-8617-AC54C847B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"/>
            <a:ext cx="1220522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6F28C4-DD1C-4E63-87E8-D76D85414C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858" y="2433312"/>
            <a:ext cx="1939480" cy="2115505"/>
          </a:xfrm>
          <a:prstGeom prst="rect">
            <a:avLst/>
          </a:prstGeom>
        </p:spPr>
        <p:txBody>
          <a:bodyPr anchor="ctr"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3987B23C-61B9-4A48-AD36-5E284812C44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088220" y="2599422"/>
            <a:ext cx="1502806" cy="150280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CBD4661-3D71-432B-9308-D2D085BDDDC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90425" y="2599420"/>
            <a:ext cx="1502806" cy="150280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F89712B5-4C74-4247-B444-43F116D582E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291629" y="2599420"/>
            <a:ext cx="1502806" cy="150280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33EE5A9D-21AC-4735-98D7-42551FA2C58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387443" y="2599420"/>
            <a:ext cx="1502806" cy="150280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EDBA775-4308-4BDB-B966-8167F3D04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975041" y="2486242"/>
            <a:ext cx="1729165" cy="172916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BDDB0B0-BDCD-459F-AF20-19E1A7217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77246" y="2486240"/>
            <a:ext cx="1729165" cy="172916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9A8E9D1-9673-42D1-A573-05CDC9EF8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178450" y="2486240"/>
            <a:ext cx="1729165" cy="172916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2F851C1-89A7-44A6-8617-10C435FCD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74264" y="2486240"/>
            <a:ext cx="1729165" cy="172916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11C9BE46-D000-4DE5-8AD9-6BFAD927A01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96727" y="4435583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5773EC03-0830-4EAE-A7B0-38902833DC2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96865" y="4661551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32E4889E-0745-4713-90D8-432A681AFC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98932" y="4435583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BFD869E7-29DA-4FEB-AB84-1C1FC3ABAE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99070" y="4661551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9E68119B-CDCA-4341-8772-2C5BF80B4E4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000136" y="4435751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303A31BF-223A-44A5-84FD-7281FF2E4CD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00274" y="4661551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666E1F4A-0D75-4B8E-A181-DBEB50FB1D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95950" y="4435583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5EAE80D5-B799-4807-8F81-22C4218233D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96088" y="4661551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9" name="Footer Placeholder 15">
            <a:extLst>
              <a:ext uri="{FF2B5EF4-FFF2-40B4-BE49-F238E27FC236}">
                <a16:creationId xmlns:a16="http://schemas.microsoft.com/office/drawing/2014/main" id="{6F4437FE-F08F-4311-B53A-88E2B729B7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0" name="Slide Number Placeholder 16">
            <a:extLst>
              <a:ext uri="{FF2B5EF4-FFF2-40B4-BE49-F238E27FC236}">
                <a16:creationId xmlns:a16="http://schemas.microsoft.com/office/drawing/2014/main" id="{D0901035-50AC-4DE0-9A34-AAA61EC10E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1" name="Date Placeholder 14">
            <a:extLst>
              <a:ext uri="{FF2B5EF4-FFF2-40B4-BE49-F238E27FC236}">
                <a16:creationId xmlns:a16="http://schemas.microsoft.com/office/drawing/2014/main" id="{5FDD3145-ADE2-4744-AF2E-9C8074C858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195764442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eet The Team 8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8A79A51B-CC7A-4B36-B457-AF3236388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"/>
            <a:ext cx="1220522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E019BE9-6149-434A-B185-EE74341126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216" y="2375820"/>
            <a:ext cx="1939480" cy="2218499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90000"/>
              </a:lnSpc>
              <a:spcBef>
                <a:spcPts val="1000"/>
              </a:spcBef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4" name="Picture Placeholder 9">
            <a:extLst>
              <a:ext uri="{FF2B5EF4-FFF2-40B4-BE49-F238E27FC236}">
                <a16:creationId xmlns:a16="http://schemas.microsoft.com/office/drawing/2014/main" id="{18B0121B-CD0E-495B-9B36-4E88EA4A978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136339" y="1326925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1" name="Picture Placeholder 9">
            <a:extLst>
              <a:ext uri="{FF2B5EF4-FFF2-40B4-BE49-F238E27FC236}">
                <a16:creationId xmlns:a16="http://schemas.microsoft.com/office/drawing/2014/main" id="{4508E76D-2071-4546-8DF2-405B38E2E271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5209991" y="1326192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5" name="Picture Placeholder 9">
            <a:extLst>
              <a:ext uri="{FF2B5EF4-FFF2-40B4-BE49-F238E27FC236}">
                <a16:creationId xmlns:a16="http://schemas.microsoft.com/office/drawing/2014/main" id="{D319C8D5-E3A6-45C8-8A64-1C1B70C90DD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7305041" y="1335752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7" name="Picture Placeholder 9">
            <a:extLst>
              <a:ext uri="{FF2B5EF4-FFF2-40B4-BE49-F238E27FC236}">
                <a16:creationId xmlns:a16="http://schemas.microsoft.com/office/drawing/2014/main" id="{01486F31-E79E-4E60-8749-B8036B3F096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9384248" y="1326192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139AA92-1781-41FF-9168-9F70B1CD9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31536" y="1222122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5FE36F90-735E-43D7-854A-0347B805053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96727" y="2972370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2D0125FE-7543-4B0C-8C50-D4F2949EE8A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96865" y="3198338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839FFFF4-4A0D-40BD-B34D-CD03D03FBEC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98932" y="2972370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2697A53A-8491-4753-901E-02236DC0D5C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99070" y="3198338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5" name="Text Placeholder 14">
            <a:extLst>
              <a:ext uri="{FF2B5EF4-FFF2-40B4-BE49-F238E27FC236}">
                <a16:creationId xmlns:a16="http://schemas.microsoft.com/office/drawing/2014/main" id="{A51D26D1-89AE-43E7-8F1B-E28B18019F8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000136" y="2972538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46" name="Text Placeholder 14">
            <a:extLst>
              <a:ext uri="{FF2B5EF4-FFF2-40B4-BE49-F238E27FC236}">
                <a16:creationId xmlns:a16="http://schemas.microsoft.com/office/drawing/2014/main" id="{0191059F-A4F0-4F1C-8237-308B7AD3F97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00274" y="3198338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7" name="Text Placeholder 14">
            <a:extLst>
              <a:ext uri="{FF2B5EF4-FFF2-40B4-BE49-F238E27FC236}">
                <a16:creationId xmlns:a16="http://schemas.microsoft.com/office/drawing/2014/main" id="{CFCD3D62-2515-40AC-A8A1-F7786244B36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95950" y="2972370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48" name="Text Placeholder 14">
            <a:extLst>
              <a:ext uri="{FF2B5EF4-FFF2-40B4-BE49-F238E27FC236}">
                <a16:creationId xmlns:a16="http://schemas.microsoft.com/office/drawing/2014/main" id="{96332DF1-A140-4DDE-9D59-EEF6D503A8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96088" y="3198338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97" name="Picture Placeholder 9">
            <a:extLst>
              <a:ext uri="{FF2B5EF4-FFF2-40B4-BE49-F238E27FC236}">
                <a16:creationId xmlns:a16="http://schemas.microsoft.com/office/drawing/2014/main" id="{74EEDA10-EB71-4CAE-80C3-9C8B46E6DF07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3136338" y="3967833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99" name="Picture Placeholder 9">
            <a:extLst>
              <a:ext uri="{FF2B5EF4-FFF2-40B4-BE49-F238E27FC236}">
                <a16:creationId xmlns:a16="http://schemas.microsoft.com/office/drawing/2014/main" id="{B9B031BF-4314-4A3C-B53C-3958CC4E6228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5209990" y="3967100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01" name="Picture Placeholder 9">
            <a:extLst>
              <a:ext uri="{FF2B5EF4-FFF2-40B4-BE49-F238E27FC236}">
                <a16:creationId xmlns:a16="http://schemas.microsoft.com/office/drawing/2014/main" id="{BC693B9A-3B30-4605-8EB8-2F155D0A4D7C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7305040" y="3976660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03" name="Picture Placeholder 9">
            <a:extLst>
              <a:ext uri="{FF2B5EF4-FFF2-40B4-BE49-F238E27FC236}">
                <a16:creationId xmlns:a16="http://schemas.microsoft.com/office/drawing/2014/main" id="{B4CC215D-FD31-4423-900D-14FF4F457AFA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9384247" y="3967100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73" name="Text Placeholder 14">
            <a:extLst>
              <a:ext uri="{FF2B5EF4-FFF2-40B4-BE49-F238E27FC236}">
                <a16:creationId xmlns:a16="http://schemas.microsoft.com/office/drawing/2014/main" id="{D4954E76-6CE5-4657-B73B-9875EBBEE00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96727" y="5587307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74" name="Text Placeholder 14">
            <a:extLst>
              <a:ext uri="{FF2B5EF4-FFF2-40B4-BE49-F238E27FC236}">
                <a16:creationId xmlns:a16="http://schemas.microsoft.com/office/drawing/2014/main" id="{E361B92F-F111-450A-A880-C3450379230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896865" y="5813275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75" name="Text Placeholder 14">
            <a:extLst>
              <a:ext uri="{FF2B5EF4-FFF2-40B4-BE49-F238E27FC236}">
                <a16:creationId xmlns:a16="http://schemas.microsoft.com/office/drawing/2014/main" id="{375C0FEC-10E7-43EA-953F-8CB9B43D05D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98932" y="5587307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76" name="Text Placeholder 14">
            <a:extLst>
              <a:ext uri="{FF2B5EF4-FFF2-40B4-BE49-F238E27FC236}">
                <a16:creationId xmlns:a16="http://schemas.microsoft.com/office/drawing/2014/main" id="{84B1D0A0-DE01-44D1-9B3D-C05DBE9FF75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999070" y="5813275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77" name="Text Placeholder 14">
            <a:extLst>
              <a:ext uri="{FF2B5EF4-FFF2-40B4-BE49-F238E27FC236}">
                <a16:creationId xmlns:a16="http://schemas.microsoft.com/office/drawing/2014/main" id="{DB6914BB-9516-4473-A02F-1A325FA7EF4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000136" y="5587475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78" name="Text Placeholder 14">
            <a:extLst>
              <a:ext uri="{FF2B5EF4-FFF2-40B4-BE49-F238E27FC236}">
                <a16:creationId xmlns:a16="http://schemas.microsoft.com/office/drawing/2014/main" id="{FEE30418-F1D4-4D16-A984-FAA6CA0C74B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100274" y="5813275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79" name="Text Placeholder 14">
            <a:extLst>
              <a:ext uri="{FF2B5EF4-FFF2-40B4-BE49-F238E27FC236}">
                <a16:creationId xmlns:a16="http://schemas.microsoft.com/office/drawing/2014/main" id="{6D336D9D-1BA1-44AE-96D0-3ABDA2E02F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95950" y="5587307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80" name="Text Placeholder 14">
            <a:extLst>
              <a:ext uri="{FF2B5EF4-FFF2-40B4-BE49-F238E27FC236}">
                <a16:creationId xmlns:a16="http://schemas.microsoft.com/office/drawing/2014/main" id="{6CFC9B87-2AEB-414D-90C4-B7F8F4AA908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92018" y="5813275"/>
            <a:ext cx="1885515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9DC42105-8FBF-4317-8822-399B1F791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05188" y="1221389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644C80F9-E615-4699-A719-131E620117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00238" y="1230949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191882A0-07C5-40D6-9520-02882775B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79445" y="1221389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242E90BB-F1EA-466F-939C-623189DF3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31535" y="3863030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CBBFD36F-B307-4513-ABAD-4A02FF737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05187" y="3862297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2E69D0B1-6D57-4A70-9C3C-F3A072AAA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00237" y="3871857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95C6593C-7D72-47FB-AACE-F8848EAFA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79444" y="3862297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" name="Footer Placeholder 15">
            <a:extLst>
              <a:ext uri="{FF2B5EF4-FFF2-40B4-BE49-F238E27FC236}">
                <a16:creationId xmlns:a16="http://schemas.microsoft.com/office/drawing/2014/main" id="{75E80FB1-82CC-4144-A899-130449B1AC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06" name="Slide Number Placeholder 16">
            <a:extLst>
              <a:ext uri="{FF2B5EF4-FFF2-40B4-BE49-F238E27FC236}">
                <a16:creationId xmlns:a16="http://schemas.microsoft.com/office/drawing/2014/main" id="{10233900-5A86-4114-B6F5-3A0EA053C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07" name="Date Placeholder 14">
            <a:extLst>
              <a:ext uri="{FF2B5EF4-FFF2-40B4-BE49-F238E27FC236}">
                <a16:creationId xmlns:a16="http://schemas.microsoft.com/office/drawing/2014/main" id="{FD1BC0B7-CAA7-4673-9A20-4EFEDC54FC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318430127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raphic 49">
            <a:extLst>
              <a:ext uri="{FF2B5EF4-FFF2-40B4-BE49-F238E27FC236}">
                <a16:creationId xmlns:a16="http://schemas.microsoft.com/office/drawing/2014/main" id="{17DE9787-F8D7-4BBC-B3C0-144EEF4730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7F666A-7AF7-4FC6-99DD-E06ED83C2E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1507" y="412356"/>
            <a:ext cx="5561556" cy="567670"/>
          </a:xfrm>
          <a:prstGeom prst="rect">
            <a:avLst/>
          </a:prstGeom>
        </p:spPr>
        <p:txBody>
          <a:bodyPr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F2A51B67-A536-47ED-9C35-D2A4CF04342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30273" y="2216292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 cap="all" spc="4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22B9C39F-D011-4AC3-A4D5-F61A1CB3650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13801" y="221629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cap="all" spc="400" baseline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4ACDF114-02BD-4A37-9BE7-AA8094B7CD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97329" y="221629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cap="all" spc="400" baseline="0">
                <a:solidFill>
                  <a:schemeClr val="accent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E3852728-C736-414F-BEC0-31AB3A704D1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80856" y="221629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cap="all" spc="40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6B731840-A0DA-423D-9AD1-D542C17BA9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5026" y="3927568"/>
            <a:ext cx="2382386" cy="613702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cap="none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1E47A2D3-1E75-488B-A7B8-CB951C8CFB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5026" y="4519311"/>
            <a:ext cx="2382386" cy="85793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2D6ADA9B-155A-4D54-8FCB-993ADEDA79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28554" y="3927568"/>
            <a:ext cx="2382386" cy="613702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cap="none" spc="200" baseline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EF3CF6C8-7D4D-4E50-B616-0431BD4830E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28554" y="4519311"/>
            <a:ext cx="2382386" cy="85793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1CDF49FC-54E3-44AE-A97C-193A25AD6C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12082" y="3927568"/>
            <a:ext cx="2382386" cy="613702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cap="none" spc="200" baseline="0">
                <a:solidFill>
                  <a:schemeClr val="accent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742DE5D9-5D04-4F7F-9F34-70481818583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12082" y="4519311"/>
            <a:ext cx="2382386" cy="85793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5F0B8140-B940-4531-9562-8D79015D941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95609" y="3927568"/>
            <a:ext cx="2382386" cy="613702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cap="none" spc="20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849CC034-065E-48F0-985D-B80C152002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95609" y="4519311"/>
            <a:ext cx="2382386" cy="85793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Footer Placeholder 15">
            <a:extLst>
              <a:ext uri="{FF2B5EF4-FFF2-40B4-BE49-F238E27FC236}">
                <a16:creationId xmlns:a16="http://schemas.microsoft.com/office/drawing/2014/main" id="{8035ED58-36EB-4147-BCAF-919ADD4DD5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16">
            <a:extLst>
              <a:ext uri="{FF2B5EF4-FFF2-40B4-BE49-F238E27FC236}">
                <a16:creationId xmlns:a16="http://schemas.microsoft.com/office/drawing/2014/main" id="{7D46932B-0FD6-4226-B251-4B81546121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4" name="Date Placeholder 14">
            <a:extLst>
              <a:ext uri="{FF2B5EF4-FFF2-40B4-BE49-F238E27FC236}">
                <a16:creationId xmlns:a16="http://schemas.microsoft.com/office/drawing/2014/main" id="{56763F7F-D8C0-4AC6-96D0-C445984C5C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59049191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03BA4599-9856-44E7-A2B6-2354614AF7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A7B14DA-64F0-4FA7-9A51-F4DB18154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9441" y="1259911"/>
            <a:ext cx="5124189" cy="492302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DC4C8188-3DF6-4730-A43A-B789F03449D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79441" y="1752212"/>
            <a:ext cx="4856479" cy="24133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E06D1BDE-6908-49BA-9900-53DFFF4B1E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1C3470F5-DE33-49A4-AE82-D8EA10A4FC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63DCFC99-67D1-468A-8498-B3C1C90B4C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335025756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E551AED-617A-4A51-AA8F-586F3703B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60DB23A-E569-444D-8607-FD404EEC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6850" y="563671"/>
            <a:ext cx="4989629" cy="2387771"/>
          </a:xfrm>
          <a:prstGeom prst="rect">
            <a:avLst/>
          </a:prstGeom>
        </p:spPr>
        <p:txBody>
          <a:bodyPr anchor="b"/>
          <a:lstStyle>
            <a:lvl1pPr algn="ctr">
              <a:defRPr sz="4800" cap="all" spc="400" baseline="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72B0D3D1-FC7B-43D5-B514-082D63A90E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6852" y="3531676"/>
            <a:ext cx="4989628" cy="175657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8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Footer Placeholder 15">
            <a:extLst>
              <a:ext uri="{FF2B5EF4-FFF2-40B4-BE49-F238E27FC236}">
                <a16:creationId xmlns:a16="http://schemas.microsoft.com/office/drawing/2014/main" id="{CC2E4653-FDDE-4AC5-A23D-4269479ADC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16">
            <a:extLst>
              <a:ext uri="{FF2B5EF4-FFF2-40B4-BE49-F238E27FC236}">
                <a16:creationId xmlns:a16="http://schemas.microsoft.com/office/drawing/2014/main" id="{C3F5CE00-2FB1-4930-8D2C-DB4DFDB2FD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4" name="Date Placeholder 14">
            <a:extLst>
              <a:ext uri="{FF2B5EF4-FFF2-40B4-BE49-F238E27FC236}">
                <a16:creationId xmlns:a16="http://schemas.microsoft.com/office/drawing/2014/main" id="{2CEBC169-C2E2-4153-8A08-6B982C0D54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669688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7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67" r:id="rId1"/>
    <p:sldLayoutId id="2147483868" r:id="rId2"/>
    <p:sldLayoutId id="2147483869" r:id="rId3"/>
    <p:sldLayoutId id="2147483870" r:id="rId4"/>
    <p:sldLayoutId id="2147483871" r:id="rId5"/>
    <p:sldLayoutId id="2147483872" r:id="rId6"/>
    <p:sldLayoutId id="2147483873" r:id="rId7"/>
    <p:sldLayoutId id="2147483874" r:id="rId8"/>
    <p:sldLayoutId id="2147483875" r:id="rId9"/>
    <p:sldLayoutId id="2147483876" r:id="rId10"/>
    <p:sldLayoutId id="2147483877" r:id="rId11"/>
    <p:sldLayoutId id="2147483878" r:id="rId12"/>
    <p:sldLayoutId id="2147483879" r:id="rId13"/>
    <p:sldLayoutId id="2147483880" r:id="rId14"/>
    <p:sldLayoutId id="2147483881" r:id="rId15"/>
    <p:sldLayoutId id="2147483882" r:id="rId16"/>
    <p:sldLayoutId id="2147483883" r:id="rId17"/>
    <p:sldLayoutId id="2147483884" r:id="rId18"/>
    <p:sldLayoutId id="2147483885" r:id="rId19"/>
    <p:sldLayoutId id="2147483886" r:id="rId20"/>
    <p:sldLayoutId id="2147483887" r:id="rId21"/>
    <p:sldLayoutId id="2147483888" r:id="rId22"/>
    <p:sldLayoutId id="2147483889" r:id="rId23"/>
    <p:sldLayoutId id="2147483890" r:id="rId24"/>
    <p:sldLayoutId id="2147483891" r:id="rId25"/>
    <p:sldLayoutId id="2147483892" r:id="rId26"/>
    <p:sldLayoutId id="2147483893" r:id="rId27"/>
    <p:sldLayoutId id="2147483894" r:id="rId28"/>
    <p:sldLayoutId id="2147483895" r:id="rId29"/>
    <p:sldLayoutId id="2147483896" r:id="rId30"/>
    <p:sldLayoutId id="2147483897" r:id="rId31"/>
    <p:sldLayoutId id="2147483898" r:id="rId32"/>
    <p:sldLayoutId id="2147483899" r:id="rId33"/>
    <p:sldLayoutId id="2147483900" r:id="rId34"/>
    <p:sldLayoutId id="2147483901" r:id="rId35"/>
    <p:sldLayoutId id="2147483902" r:id="rId36"/>
    <p:sldLayoutId id="2147483903" r:id="rId37"/>
    <p:sldLayoutId id="2147483904" r:id="rId38"/>
    <p:sldLayoutId id="2147483905" r:id="rId39"/>
    <p:sldLayoutId id="2147483906" r:id="rId40"/>
    <p:sldLayoutId id="2147483907" r:id="rId41"/>
    <p:sldLayoutId id="2147483908" r:id="rId42"/>
    <p:sldLayoutId id="2147483909" r:id="rId43"/>
    <p:sldLayoutId id="2147483910" r:id="rId44"/>
    <p:sldLayoutId id="2147483911" r:id="rId45"/>
    <p:sldLayoutId id="2147483912" r:id="rId46"/>
    <p:sldLayoutId id="2147483913" r:id="rId47"/>
    <p:sldLayoutId id="2147483914" r:id="rId48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3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3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3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3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3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3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7" Type="http://schemas.openxmlformats.org/officeDocument/2006/relationships/chart" Target="../charts/chart19.xml"/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33.xml"/><Relationship Id="rId6" Type="http://schemas.openxmlformats.org/officeDocument/2006/relationships/chart" Target="../charts/chart18.xml"/><Relationship Id="rId5" Type="http://schemas.openxmlformats.org/officeDocument/2006/relationships/chart" Target="../charts/chart17.xml"/><Relationship Id="rId4" Type="http://schemas.openxmlformats.org/officeDocument/2006/relationships/chart" Target="../charts/char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01C44412-AA84-403C-A202-EAB7F3C81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7AF0"/>
                </a:solidFill>
              </a:rPr>
              <a:t>Job Market Analysis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8D1462E-973D-4427-A664-EF751DF5979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1400" b="0">
                <a:solidFill>
                  <a:srgbClr val="ECF0FB"/>
                </a:solidFill>
              </a:rPr>
              <a:t>Hiring demand, salary and job-family insights from 40,000 LinkedIn postings</a:t>
            </a:r>
            <a:endParaRPr lang="en-US" dirty="0"/>
          </a:p>
          <a:p>
            <a:pPr>
              <a:spcBef>
                <a:spcPts val="1000"/>
              </a:spcBef>
            </a:pPr>
            <a:r>
              <a:rPr lang="en-US" sz="2000" b="1">
                <a:solidFill>
                  <a:srgbClr val="ECF0FB"/>
                </a:solidFill>
              </a:rPr>
              <a:t>Presented by: Siddique Amrin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433082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7160"/>
            <a:ext cx="11247120" cy="822960"/>
          </a:xfrm>
        </p:spPr>
        <p:txBody>
          <a:bodyPr wrap="square" anchor="ctr"/>
          <a:lstStyle/>
          <a:p>
            <a:pPr algn="ctr"/>
            <a:r>
              <a:rPr sz="2600" b="1" cap="none" spc="0">
                <a:solidFill>
                  <a:srgbClr val="F9D423"/>
                </a:solidFill>
              </a:rPr>
              <a:t>Analyse Job Market Trends &amp; Workforce Demand (Recruitment Analytics)</a:t>
            </a:r>
          </a:p>
        </p:txBody>
      </p:sp>
      <p:sp>
        <p:nvSpPr>
          <p:cNvPr id="3" name="Right Arrow 2"/>
          <p:cNvSpPr/>
          <p:nvPr/>
        </p:nvSpPr>
        <p:spPr>
          <a:xfrm>
            <a:off x="457200" y="2103120"/>
            <a:ext cx="3840480" cy="2468880"/>
          </a:xfrm>
          <a:prstGeom prst="rightArrow">
            <a:avLst>
              <a:gd name="adj1" fmla="val 62000"/>
              <a:gd name="adj2" fmla="val 45000"/>
            </a:avLst>
          </a:prstGeom>
          <a:solidFill>
            <a:srgbClr val="F08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2834640"/>
            <a:ext cx="2651760" cy="868680"/>
          </a:xfrm>
          <a:prstGeom prst="roundRect">
            <a:avLst>
              <a:gd name="adj" fmla="val 10000"/>
            </a:avLst>
          </a:prstGeom>
          <a:solidFill>
            <a:srgbClr val="F9D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600" b="1">
                <a:solidFill>
                  <a:srgbClr val="111111"/>
                </a:solidFill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0"/>
            <a:ext cx="3657600" cy="8229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400" b="1">
                <a:solidFill>
                  <a:srgbClr val="EAF2FB"/>
                </a:solidFill>
              </a:rPr>
              <a:t>40,000 LinkedIn job postings</a:t>
            </a:r>
          </a:p>
          <a:p>
            <a:pPr algn="ctr"/>
            <a:r>
              <a:rPr sz="1300" b="0">
                <a:solidFill>
                  <a:srgbClr val="5BC0EB"/>
                </a:solidFill>
              </a:rPr>
              <a:t>12 tasks  |  3 objectives  |  Excel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60" y="1143000"/>
            <a:ext cx="7315200" cy="5029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700" b="1">
                <a:solidFill>
                  <a:srgbClr val="0A2342"/>
                </a:solidFill>
              </a:rPr>
              <a:t>Job Market &amp; Workforce Demand Analysis</a:t>
            </a:r>
          </a:p>
        </p:txBody>
      </p:sp>
      <p:sp>
        <p:nvSpPr>
          <p:cNvPr id="7" name="Down Arrow 6"/>
          <p:cNvSpPr/>
          <p:nvPr/>
        </p:nvSpPr>
        <p:spPr>
          <a:xfrm>
            <a:off x="7955279" y="1664207"/>
            <a:ext cx="365760" cy="182880"/>
          </a:xfrm>
          <a:prstGeom prst="downArrow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480560" y="1874519"/>
            <a:ext cx="7315200" cy="502920"/>
          </a:xfrm>
          <a:prstGeom prst="rect">
            <a:avLst/>
          </a:prstGeom>
          <a:solidFill>
            <a:srgbClr val="A8B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700" b="1">
                <a:solidFill>
                  <a:srgbClr val="0A2342"/>
                </a:solidFill>
              </a:rPr>
              <a:t>Hiring Demand by Company &amp; Location</a:t>
            </a:r>
          </a:p>
        </p:txBody>
      </p:sp>
      <p:sp>
        <p:nvSpPr>
          <p:cNvPr id="9" name="Down Arrow 8"/>
          <p:cNvSpPr/>
          <p:nvPr/>
        </p:nvSpPr>
        <p:spPr>
          <a:xfrm>
            <a:off x="7955279" y="2395727"/>
            <a:ext cx="365760" cy="182880"/>
          </a:xfrm>
          <a:prstGeom prst="downArrow">
            <a:avLst/>
          </a:prstGeom>
          <a:solidFill>
            <a:srgbClr val="A8B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0" y="2606040"/>
            <a:ext cx="7315200" cy="502920"/>
          </a:xfrm>
          <a:prstGeom prst="rect">
            <a:avLst/>
          </a:prstGeom>
          <a:solidFill>
            <a:srgbClr val="BFE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700" b="1">
                <a:solidFill>
                  <a:srgbClr val="0A2342"/>
                </a:solidFill>
              </a:rPr>
              <a:t>Experience Level &amp; Work Type Analysis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7955279" y="3127248"/>
            <a:ext cx="365760" cy="182880"/>
          </a:xfrm>
          <a:prstGeom prst="downArrow">
            <a:avLst/>
          </a:prstGeom>
          <a:solidFill>
            <a:srgbClr val="BFE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3337560"/>
            <a:ext cx="7315200" cy="502920"/>
          </a:xfrm>
          <a:prstGeom prst="rect">
            <a:avLst/>
          </a:prstGeom>
          <a:solidFill>
            <a:srgbClr val="4CC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700" b="1">
                <a:solidFill>
                  <a:srgbClr val="0A2342"/>
                </a:solidFill>
              </a:rPr>
              <a:t>Salary &amp; Compensation Insight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7955279" y="3858768"/>
            <a:ext cx="365760" cy="182880"/>
          </a:xfrm>
          <a:prstGeom prst="downArrow">
            <a:avLst/>
          </a:prstGeom>
          <a:solidFill>
            <a:srgbClr val="4CC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80560" y="4069080"/>
            <a:ext cx="7315200" cy="502920"/>
          </a:xfrm>
          <a:prstGeom prst="rect">
            <a:avLst/>
          </a:prstGeom>
          <a:solidFill>
            <a:srgbClr val="8BD1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700" b="1">
                <a:solidFill>
                  <a:srgbClr val="0A2342"/>
                </a:solidFill>
              </a:rPr>
              <a:t>Remote Work &amp; Job-Family Analysis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7955279" y="4590288"/>
            <a:ext cx="365760" cy="182880"/>
          </a:xfrm>
          <a:prstGeom prst="downArrow">
            <a:avLst/>
          </a:prstGeom>
          <a:solidFill>
            <a:srgbClr val="8BD1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80560" y="4800600"/>
            <a:ext cx="7315200" cy="502920"/>
          </a:xfrm>
          <a:prstGeom prst="rect">
            <a:avLst/>
          </a:prstGeom>
          <a:solidFill>
            <a:srgbClr val="D9B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700" b="1">
                <a:solidFill>
                  <a:srgbClr val="0A2342"/>
                </a:solidFill>
              </a:rPr>
              <a:t>Candidate Interest: Views &amp; Applications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7955279" y="5321808"/>
            <a:ext cx="365760" cy="182880"/>
          </a:xfrm>
          <a:prstGeom prst="downArrow">
            <a:avLst/>
          </a:prstGeom>
          <a:solidFill>
            <a:srgbClr val="D9B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480560" y="5532120"/>
            <a:ext cx="7315200" cy="502920"/>
          </a:xfrm>
          <a:prstGeom prst="rect">
            <a:avLst/>
          </a:prstGeom>
          <a:solidFill>
            <a:srgbClr val="E54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Data-Driven Recruitment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0" y="137160"/>
            <a:ext cx="6675120" cy="731520"/>
          </a:xfrm>
        </p:spPr>
        <p:txBody>
          <a:bodyPr wrap="square" anchor="ctr"/>
          <a:lstStyle/>
          <a:p>
            <a:pPr algn="ctr"/>
            <a:r>
              <a:rPr sz="3200" b="1" cap="none" spc="0">
                <a:solidFill>
                  <a:srgbClr val="F9D423"/>
                </a:solidFill>
              </a:rPr>
              <a:t>Project Flow (Methodology)</a:t>
            </a:r>
          </a:p>
        </p:txBody>
      </p:sp>
      <p:sp>
        <p:nvSpPr>
          <p:cNvPr id="3" name="Pentagon 2"/>
          <p:cNvSpPr/>
          <p:nvPr/>
        </p:nvSpPr>
        <p:spPr>
          <a:xfrm>
            <a:off x="411480" y="1417320"/>
            <a:ext cx="1234440" cy="868680"/>
          </a:xfrm>
          <a:prstGeom prst="homePlate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0A2342"/>
                </a:solidFill>
              </a:rPr>
              <a:t>Start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737360" y="1280160"/>
            <a:ext cx="3383280" cy="1143000"/>
          </a:xfrm>
          <a:prstGeom prst="rightArrow">
            <a:avLst>
              <a:gd name="adj1" fmla="val 70000"/>
              <a:gd name="adj2" fmla="val 50000"/>
            </a:avLst>
          </a:prstGeom>
          <a:solidFill>
            <a:srgbClr val="5BC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0A2342"/>
                </a:solidFill>
              </a:rPr>
              <a:t>1  Data Collection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029200" y="1280160"/>
            <a:ext cx="3383280" cy="1143000"/>
          </a:xfrm>
          <a:prstGeom prst="rightArrow">
            <a:avLst>
              <a:gd name="adj1" fmla="val 70000"/>
              <a:gd name="adj2" fmla="val 50000"/>
            </a:avLst>
          </a:prstGeom>
          <a:solidFill>
            <a:srgbClr val="F4A6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0A2342"/>
                </a:solidFill>
              </a:rPr>
              <a:t>2  Data Cleaning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321040" y="1280160"/>
            <a:ext cx="3383280" cy="1143000"/>
          </a:xfrm>
          <a:prstGeom prst="rightArrow">
            <a:avLst>
              <a:gd name="adj1" fmla="val 70000"/>
              <a:gd name="adj2" fmla="val 50000"/>
            </a:avLst>
          </a:prstGeom>
          <a:solidFill>
            <a:srgbClr val="8BD1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0A2342"/>
                </a:solidFill>
              </a:rPr>
              <a:t>3  Pivot Tables</a:t>
            </a:r>
          </a:p>
        </p:txBody>
      </p:sp>
      <p:sp>
        <p:nvSpPr>
          <p:cNvPr id="7" name="Left Arrow 6"/>
          <p:cNvSpPr/>
          <p:nvPr/>
        </p:nvSpPr>
        <p:spPr>
          <a:xfrm>
            <a:off x="8321040" y="2743200"/>
            <a:ext cx="3383280" cy="1143000"/>
          </a:xfrm>
          <a:prstGeom prst="leftArrow">
            <a:avLst>
              <a:gd name="adj1" fmla="val 70000"/>
              <a:gd name="adj2" fmla="val 50000"/>
            </a:avLst>
          </a:prstGeom>
          <a:solidFill>
            <a:srgbClr val="D9B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0A2342"/>
                </a:solidFill>
              </a:rPr>
              <a:t>4  Descriptive Statistics</a:t>
            </a:r>
          </a:p>
        </p:txBody>
      </p:sp>
      <p:sp>
        <p:nvSpPr>
          <p:cNvPr id="8" name="Left Arrow 7"/>
          <p:cNvSpPr/>
          <p:nvPr/>
        </p:nvSpPr>
        <p:spPr>
          <a:xfrm>
            <a:off x="5029200" y="2743200"/>
            <a:ext cx="3383280" cy="1143000"/>
          </a:xfrm>
          <a:prstGeom prst="leftArrow">
            <a:avLst>
              <a:gd name="adj1" fmla="val 70000"/>
              <a:gd name="adj2" fmla="val 50000"/>
            </a:avLst>
          </a:prstGeom>
          <a:solidFill>
            <a:srgbClr val="C9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0A2342"/>
                </a:solidFill>
              </a:rPr>
              <a:t>5  Charts &amp; Visuals</a:t>
            </a:r>
          </a:p>
        </p:txBody>
      </p:sp>
      <p:sp>
        <p:nvSpPr>
          <p:cNvPr id="9" name="Left Arrow 8"/>
          <p:cNvSpPr/>
          <p:nvPr/>
        </p:nvSpPr>
        <p:spPr>
          <a:xfrm>
            <a:off x="1737360" y="2743200"/>
            <a:ext cx="3383280" cy="1143000"/>
          </a:xfrm>
          <a:prstGeom prst="leftArrow">
            <a:avLst>
              <a:gd name="adj1" fmla="val 70000"/>
              <a:gd name="adj2" fmla="val 50000"/>
            </a:avLst>
          </a:prstGeom>
          <a:solidFill>
            <a:srgbClr val="B7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0A2342"/>
                </a:solidFill>
              </a:rPr>
              <a:t>6  Slicers &amp; KPI Cards</a:t>
            </a:r>
          </a:p>
        </p:txBody>
      </p:sp>
      <p:sp>
        <p:nvSpPr>
          <p:cNvPr id="10" name="Down Arrow 9"/>
          <p:cNvSpPr/>
          <p:nvPr/>
        </p:nvSpPr>
        <p:spPr>
          <a:xfrm>
            <a:off x="11155680" y="2148840"/>
            <a:ext cx="457200" cy="685800"/>
          </a:xfrm>
          <a:prstGeom prst="downArrow">
            <a:avLst/>
          </a:prstGeom>
          <a:solidFill>
            <a:srgbClr val="5BC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Down Arrow 10"/>
          <p:cNvSpPr/>
          <p:nvPr/>
        </p:nvSpPr>
        <p:spPr>
          <a:xfrm>
            <a:off x="914400" y="3611880"/>
            <a:ext cx="457200" cy="685800"/>
          </a:xfrm>
          <a:prstGeom prst="downArrow">
            <a:avLst/>
          </a:prstGeom>
          <a:solidFill>
            <a:srgbClr val="B7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ight Arrow 11"/>
          <p:cNvSpPr/>
          <p:nvPr/>
        </p:nvSpPr>
        <p:spPr>
          <a:xfrm>
            <a:off x="1737360" y="4206240"/>
            <a:ext cx="3383280" cy="1143000"/>
          </a:xfrm>
          <a:prstGeom prst="rightArrow">
            <a:avLst>
              <a:gd name="adj1" fmla="val 70000"/>
              <a:gd name="adj2" fmla="val 50000"/>
            </a:avLst>
          </a:prstGeom>
          <a:solidFill>
            <a:srgbClr val="F08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0A2342"/>
                </a:solidFill>
              </a:rPr>
              <a:t>7  Excel Dashboard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029200" y="4206240"/>
            <a:ext cx="3383280" cy="1143000"/>
          </a:xfrm>
          <a:prstGeom prst="rightArrow">
            <a:avLst>
              <a:gd name="adj1" fmla="val 70000"/>
              <a:gd name="adj2" fmla="val 50000"/>
            </a:avLst>
          </a:prstGeom>
          <a:solidFill>
            <a:srgbClr val="3A8D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8  Business Insights</a:t>
            </a:r>
          </a:p>
        </p:txBody>
      </p:sp>
      <p:sp>
        <p:nvSpPr>
          <p:cNvPr id="14" name="Oval 13"/>
          <p:cNvSpPr/>
          <p:nvPr/>
        </p:nvSpPr>
        <p:spPr>
          <a:xfrm>
            <a:off x="8778240" y="4160520"/>
            <a:ext cx="1097280" cy="1097280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887967" y="4270248"/>
            <a:ext cx="877824" cy="877824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997696" y="4379976"/>
            <a:ext cx="658368" cy="658368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107424" y="4489704"/>
            <a:ext cx="438911" cy="438911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217152" y="4599431"/>
            <a:ext cx="219455" cy="219455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 flipV="1">
            <a:off x="9326880" y="4105656"/>
            <a:ext cx="548639" cy="603503"/>
          </a:xfrm>
          <a:prstGeom prst="line">
            <a:avLst/>
          </a:prstGeom>
          <a:ln w="38100">
            <a:solidFill>
              <a:srgbClr val="5BC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966960" y="4480560"/>
            <a:ext cx="201168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700" b="1">
                <a:solidFill>
                  <a:srgbClr val="EAF2FB"/>
                </a:solidFill>
              </a:rPr>
              <a:t>9  Final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1400" b="0">
                <a:solidFill>
                  <a:srgbClr val="5BC0EB"/>
                </a:solidFill>
              </a:rPr>
              <a:t>Tool used: Microsoft Excel (data cleaning, PivotTables, PivotCharts, slicers, KPI cards and dashboard)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182880"/>
            <a:ext cx="7589520" cy="640080"/>
          </a:xfrm>
        </p:spPr>
        <p:txBody>
          <a:bodyPr wrap="square" anchor="ctr"/>
          <a:lstStyle/>
          <a:p>
            <a:pPr algn="ctr"/>
            <a:r>
              <a:rPr sz="3000" b="1" cap="none" spc="0">
                <a:solidFill>
                  <a:srgbClr val="F9D423"/>
                </a:solidFill>
              </a:rPr>
              <a:t>DATASET INFORMATION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92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Field group</a:t>
                      </a:r>
                    </a:p>
                  </a:txBody>
                  <a:tcPr anchor="ctr">
                    <a:solidFill>
                      <a:srgbClr val="1F7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Records</a:t>
                      </a:r>
                    </a:p>
                  </a:txBody>
                  <a:tcPr anchor="ctr">
                    <a:solidFill>
                      <a:srgbClr val="1F7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Columns</a:t>
                      </a:r>
                    </a:p>
                  </a:txBody>
                  <a:tcPr anchor="ctr">
                    <a:solidFill>
                      <a:srgbClr val="1F7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Key columns and description</a:t>
                      </a:r>
                    </a:p>
                  </a:txBody>
                  <a:tcPr anchor="ctr">
                    <a:solidFill>
                      <a:srgbClr val="1F78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A2342"/>
                          </a:solidFill>
                        </a:rPr>
                        <a:t>Job &amp; company details</a:t>
                      </a:r>
                    </a:p>
                  </a:txBody>
                  <a:tcPr anchor="ctr">
                    <a:solidFill>
                      <a:srgbClr val="D6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2342"/>
                          </a:solidFill>
                        </a:rPr>
                        <a:t>40,000</a:t>
                      </a:r>
                    </a:p>
                  </a:txBody>
                  <a:tcPr anchor="ctr">
                    <a:solidFill>
                      <a:srgbClr val="D6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2342"/>
                          </a:solidFill>
                        </a:rPr>
                        <a:t>14</a:t>
                      </a:r>
                    </a:p>
                  </a:txBody>
                  <a:tcPr anchor="ctr">
                    <a:solidFill>
                      <a:srgbClr val="D6E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2342"/>
                          </a:solidFill>
                        </a:rPr>
                        <a:t>job_id, company_name, title, location, company_id, zip_code, skills_desc, posting and application links, closed_time, sponsored. Shows who is hiring, for which role and where.</a:t>
                      </a:r>
                    </a:p>
                  </a:txBody>
                  <a:tcPr anchor="ctr">
                    <a:solidFill>
                      <a:srgbClr val="D6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A2342"/>
                          </a:solidFill>
                        </a:rPr>
                        <a:t>Salary &amp; compensation</a:t>
                      </a:r>
                    </a:p>
                  </a:txBody>
                  <a:tcPr anchor="ctr"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2342"/>
                          </a:solidFill>
                        </a:rPr>
                        <a:t>40,000</a:t>
                      </a:r>
                    </a:p>
                  </a:txBody>
                  <a:tcPr anchor="ctr"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2342"/>
                          </a:solidFill>
                        </a:rPr>
                        <a:t>9</a:t>
                      </a:r>
                    </a:p>
                  </a:txBody>
                  <a:tcPr anchor="ctr"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2342"/>
                          </a:solidFill>
                        </a:rPr>
                        <a:t>min_salary, max_salary, med_salary, pay_period, currency, compensation_type, normalized_salary, salary_data_status, salary_clean (annual salary, values above $1M excluded). Used for pay benchmarks.</a:t>
                      </a:r>
                    </a:p>
                  </a:txBody>
                  <a:tcPr anchor="ctr">
                    <a:solidFill>
                      <a:srgbClr val="F2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A2342"/>
                          </a:solidFill>
                        </a:rPr>
                        <a:t>Work arrangement</a:t>
                      </a:r>
                    </a:p>
                  </a:txBody>
                  <a:tcPr anchor="ctr">
                    <a:solidFill>
                      <a:srgbClr val="D6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2342"/>
                          </a:solidFill>
                        </a:rPr>
                        <a:t>40,000</a:t>
                      </a:r>
                    </a:p>
                  </a:txBody>
                  <a:tcPr anchor="ctr">
                    <a:solidFill>
                      <a:srgbClr val="D6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2342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rgbClr val="D6E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2342"/>
                          </a:solidFill>
                        </a:rPr>
                        <a:t>formatted_work_type, work_type, remote_allowed, remote_status. Used to compare Full-time, Contract, Part-time and remote jobs.</a:t>
                      </a:r>
                    </a:p>
                  </a:txBody>
                  <a:tcPr anchor="ctr">
                    <a:solidFill>
                      <a:srgbClr val="D6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A2342"/>
                          </a:solidFill>
                        </a:rPr>
                        <a:t>Experience &amp; job family</a:t>
                      </a:r>
                    </a:p>
                  </a:txBody>
                  <a:tcPr anchor="ctr"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2342"/>
                          </a:solidFill>
                        </a:rPr>
                        <a:t>40,000</a:t>
                      </a:r>
                    </a:p>
                  </a:txBody>
                  <a:tcPr anchor="ctr"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2342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2342"/>
                          </a:solidFill>
                        </a:rPr>
                        <a:t>formatted_experience_level, job_family (12 families). Used for demand by level and by job category.</a:t>
                      </a:r>
                    </a:p>
                  </a:txBody>
                  <a:tcPr anchor="ctr">
                    <a:solidFill>
                      <a:srgbClr val="F2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A2342"/>
                          </a:solidFill>
                        </a:rPr>
                        <a:t>Candidate engagement</a:t>
                      </a:r>
                    </a:p>
                  </a:txBody>
                  <a:tcPr anchor="ctr">
                    <a:solidFill>
                      <a:srgbClr val="D6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2342"/>
                          </a:solidFill>
                        </a:rPr>
                        <a:t>40,000</a:t>
                      </a:r>
                    </a:p>
                  </a:txBody>
                  <a:tcPr anchor="ctr">
                    <a:solidFill>
                      <a:srgbClr val="D6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2342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D6E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2342"/>
                          </a:solidFill>
                        </a:rPr>
                        <a:t>views, applies. Used for views vs applications and application rate.</a:t>
                      </a:r>
                    </a:p>
                  </a:txBody>
                  <a:tcPr anchor="ctr">
                    <a:solidFill>
                      <a:srgbClr val="D6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A2342"/>
                          </a:solidFill>
                        </a:rPr>
                        <a:t>Total (JOB DATA sheet)</a:t>
                      </a:r>
                    </a:p>
                  </a:txBody>
                  <a:tcPr anchor="ctr">
                    <a:solidFill>
                      <a:srgbClr val="BFE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A2342"/>
                          </a:solidFill>
                        </a:rPr>
                        <a:t>40,000</a:t>
                      </a:r>
                    </a:p>
                  </a:txBody>
                  <a:tcPr anchor="ctr">
                    <a:solidFill>
                      <a:srgbClr val="BFE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A2342"/>
                          </a:solidFill>
                        </a:rPr>
                        <a:t>31</a:t>
                      </a:r>
                    </a:p>
                  </a:txBody>
                  <a:tcPr anchor="ctr">
                    <a:solidFill>
                      <a:srgbClr val="BFE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A2342"/>
                          </a:solidFill>
                        </a:rPr>
                        <a:t>LinkedIn job postings: one row per posting, cleaned and ready for PivotTables.</a:t>
                      </a:r>
                    </a:p>
                  </a:txBody>
                  <a:tcPr anchor="ctr">
                    <a:solidFill>
                      <a:srgbClr val="BFE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1680" y="182880"/>
            <a:ext cx="8138160" cy="640080"/>
          </a:xfrm>
        </p:spPr>
        <p:txBody>
          <a:bodyPr wrap="square" anchor="ctr"/>
          <a:lstStyle/>
          <a:p>
            <a:pPr algn="ctr"/>
            <a:r>
              <a:rPr sz="3000" b="1" cap="none" spc="0">
                <a:solidFill>
                  <a:srgbClr val="F9D423"/>
                </a:solidFill>
              </a:rPr>
              <a:t>BUSINESS OBJECTIVES &amp; TASKS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109728"/>
            <a:ext cx="777240" cy="777240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92124" y="187451"/>
            <a:ext cx="621792" cy="621792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69848" y="265176"/>
            <a:ext cx="466344" cy="466344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47572" y="342900"/>
            <a:ext cx="310895" cy="310895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225296" y="420624"/>
            <a:ext cx="155447" cy="155447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 flipV="1">
            <a:off x="1303020" y="70865"/>
            <a:ext cx="388620" cy="427482"/>
          </a:xfrm>
          <a:prstGeom prst="line">
            <a:avLst/>
          </a:prstGeom>
          <a:ln w="38100">
            <a:solidFill>
              <a:srgbClr val="5BC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097280"/>
          <a:ext cx="112471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Business Objectives</a:t>
                      </a:r>
                    </a:p>
                  </a:txBody>
                  <a:tcPr anchor="ctr">
                    <a:solidFill>
                      <a:srgbClr val="1F7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Tasks</a:t>
                      </a:r>
                    </a:p>
                  </a:txBody>
                  <a:tcPr anchor="ctr">
                    <a:solidFill>
                      <a:srgbClr val="1F7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Tools</a:t>
                      </a:r>
                    </a:p>
                  </a:txBody>
                  <a:tcPr anchor="ctr">
                    <a:solidFill>
                      <a:srgbClr val="1F78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A2342"/>
                          </a:solidFill>
                        </a:rPr>
                        <a:t>Objective 1: Evaluate Hiring Demand Across Companies, Locations and Experience Levels</a:t>
                      </a:r>
                    </a:p>
                  </a:txBody>
                  <a:tcPr anchor="ctr">
                    <a:solidFill>
                      <a:srgbClr val="D6E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A2342"/>
                          </a:solidFill>
                        </a:rPr>
                        <a:t>Task 1 - </a:t>
                      </a:r>
                      <a:r>
                        <a:rPr sz="1200" b="0">
                          <a:solidFill>
                            <a:srgbClr val="0A2342"/>
                          </a:solidFill>
                        </a:rPr>
                        <a:t>Which companies have the highest number of job postings?</a:t>
                      </a:r>
                    </a:p>
                    <a:p>
                      <a:pPr algn="l"/>
                      <a:r>
                        <a:rPr sz="1200" b="1">
                          <a:solidFill>
                            <a:srgbClr val="0A2342"/>
                          </a:solidFill>
                        </a:rPr>
                        <a:t>Task 2 - </a:t>
                      </a:r>
                      <a:r>
                        <a:rPr sz="1200" b="0">
                          <a:solidFill>
                            <a:srgbClr val="0A2342"/>
                          </a:solidFill>
                        </a:rPr>
                        <a:t>Which locations have the most job opportunities?</a:t>
                      </a:r>
                    </a:p>
                    <a:p>
                      <a:pPr algn="l"/>
                      <a:r>
                        <a:rPr sz="1200" b="1">
                          <a:solidFill>
                            <a:srgbClr val="0A2342"/>
                          </a:solidFill>
                        </a:rPr>
                        <a:t>Task 3 - </a:t>
                      </a:r>
                      <a:r>
                        <a:rPr sz="1200" b="0">
                          <a:solidFill>
                            <a:srgbClr val="0A2342"/>
                          </a:solidFill>
                        </a:rPr>
                        <a:t>How does hiring demand vary by experience level?</a:t>
                      </a:r>
                    </a:p>
                    <a:p>
                      <a:pPr algn="l"/>
                      <a:r>
                        <a:rPr sz="1200" b="1">
                          <a:solidFill>
                            <a:srgbClr val="0A2342"/>
                          </a:solidFill>
                        </a:rPr>
                        <a:t>Task 4 - </a:t>
                      </a:r>
                      <a:r>
                        <a:rPr sz="1200" b="0">
                          <a:solidFill>
                            <a:srgbClr val="0A2342"/>
                          </a:solidFill>
                        </a:rPr>
                        <a:t>How does experience level vary by work type?</a:t>
                      </a:r>
                    </a:p>
                  </a:txBody>
                  <a:tcPr anchor="ctr">
                    <a:solidFill>
                      <a:srgbClr val="D6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A2342"/>
                          </a:solidFill>
                        </a:rPr>
                        <a:t>Microsoft Excel</a:t>
                      </a:r>
                    </a:p>
                  </a:txBody>
                  <a:tcPr anchor="ctr">
                    <a:solidFill>
                      <a:srgbClr val="D6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A2342"/>
                          </a:solidFill>
                        </a:rPr>
                        <a:t>Objective 2: Analyze Salary Patterns, Remote Work and Job-Family Demand</a:t>
                      </a:r>
                    </a:p>
                  </a:txBody>
                  <a:tcPr anchor="ctr"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A2342"/>
                          </a:solidFill>
                        </a:rPr>
                        <a:t>Task 5 - </a:t>
                      </a:r>
                      <a:r>
                        <a:rPr sz="1200" b="0">
                          <a:solidFill>
                            <a:srgbClr val="0A2342"/>
                          </a:solidFill>
                        </a:rPr>
                        <a:t>Which job titles have the highest average salary?</a:t>
                      </a:r>
                    </a:p>
                    <a:p>
                      <a:pPr algn="l"/>
                      <a:r>
                        <a:rPr sz="1200" b="1">
                          <a:solidFill>
                            <a:srgbClr val="0A2342"/>
                          </a:solidFill>
                        </a:rPr>
                        <a:t>Task 6 - </a:t>
                      </a:r>
                      <a:r>
                        <a:rPr sz="1200" b="0">
                          <a:solidFill>
                            <a:srgbClr val="0A2342"/>
                          </a:solidFill>
                        </a:rPr>
                        <a:t>Which locations offer the highest average salary?</a:t>
                      </a:r>
                    </a:p>
                    <a:p>
                      <a:pPr algn="l"/>
                      <a:r>
                        <a:rPr sz="1200" b="1">
                          <a:solidFill>
                            <a:srgbClr val="0A2342"/>
                          </a:solidFill>
                        </a:rPr>
                        <a:t>Task 7 - </a:t>
                      </a:r>
                      <a:r>
                        <a:rPr sz="1200" b="0">
                          <a:solidFill>
                            <a:srgbClr val="0A2342"/>
                          </a:solidFill>
                        </a:rPr>
                        <a:t>How do remote-allowed jobs build up across work types?</a:t>
                      </a:r>
                    </a:p>
                    <a:p>
                      <a:pPr algn="l"/>
                      <a:r>
                        <a:rPr sz="1200" b="1">
                          <a:solidFill>
                            <a:srgbClr val="0A2342"/>
                          </a:solidFill>
                        </a:rPr>
                        <a:t>Task 8 - </a:t>
                      </a:r>
                      <a:r>
                        <a:rPr sz="1200" b="0">
                          <a:solidFill>
                            <a:srgbClr val="0A2342"/>
                          </a:solidFill>
                        </a:rPr>
                        <a:t>Which job families have the highest hiring demand, by work type?</a:t>
                      </a:r>
                    </a:p>
                  </a:txBody>
                  <a:tcPr anchor="ctr"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A2342"/>
                          </a:solidFill>
                        </a:rPr>
                        <a:t>Microsoft Excel</a:t>
                      </a:r>
                    </a:p>
                  </a:txBody>
                  <a:tcPr anchor="ctr">
                    <a:solidFill>
                      <a:srgbClr val="F2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A2342"/>
                          </a:solidFill>
                        </a:rPr>
                        <a:t>Objective 3: Compare Job Families on Experience, Candidate Interest and Demand Concentration</a:t>
                      </a:r>
                    </a:p>
                  </a:txBody>
                  <a:tcPr anchor="ctr">
                    <a:solidFill>
                      <a:srgbClr val="D6E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A2342"/>
                          </a:solidFill>
                        </a:rPr>
                        <a:t>Task 9 - </a:t>
                      </a:r>
                      <a:r>
                        <a:rPr sz="1200" b="0">
                          <a:solidFill>
                            <a:srgbClr val="0A2342"/>
                          </a:solidFill>
                        </a:rPr>
                        <a:t>How does experience level vary across job families?</a:t>
                      </a:r>
                    </a:p>
                    <a:p>
                      <a:pPr algn="l"/>
                      <a:r>
                        <a:rPr sz="1200" b="1">
                          <a:solidFill>
                            <a:srgbClr val="0A2342"/>
                          </a:solidFill>
                        </a:rPr>
                        <a:t>Task 10 - </a:t>
                      </a:r>
                      <a:r>
                        <a:rPr sz="1200" b="0">
                          <a:solidFill>
                            <a:srgbClr val="0A2342"/>
                          </a:solidFill>
                        </a:rPr>
                        <a:t>How do views relate to applications across job families?</a:t>
                      </a:r>
                    </a:p>
                    <a:p>
                      <a:pPr algn="l"/>
                      <a:r>
                        <a:rPr sz="1200" b="1">
                          <a:solidFill>
                            <a:srgbClr val="0A2342"/>
                          </a:solidFill>
                        </a:rPr>
                        <a:t>Task 11 - </a:t>
                      </a:r>
                      <a:r>
                        <a:rPr sz="1200" b="0">
                          <a:solidFill>
                            <a:srgbClr val="0A2342"/>
                          </a:solidFill>
                        </a:rPr>
                        <a:t>Which job families convert views into applications best?</a:t>
                      </a:r>
                    </a:p>
                    <a:p>
                      <a:pPr algn="l"/>
                      <a:r>
                        <a:rPr sz="1200" b="1">
                          <a:solidFill>
                            <a:srgbClr val="0A2342"/>
                          </a:solidFill>
                        </a:rPr>
                        <a:t>Task 12 - </a:t>
                      </a:r>
                      <a:r>
                        <a:rPr sz="1200" b="0">
                          <a:solidFill>
                            <a:srgbClr val="0A2342"/>
                          </a:solidFill>
                        </a:rPr>
                        <a:t>What is the share of postings by work type, and how concentrated is demand across job families?</a:t>
                      </a:r>
                    </a:p>
                    <a:p>
                      <a:pPr algn="l"/>
                      <a:r>
                        <a:rPr sz="1200" b="1">
                          <a:solidFill>
                            <a:srgbClr val="0A2342"/>
                          </a:solidFill>
                        </a:rPr>
                        <a:t>Dashboard - </a:t>
                      </a:r>
                      <a:r>
                        <a:rPr sz="1200" b="0">
                          <a:solidFill>
                            <a:srgbClr val="0A2342"/>
                          </a:solidFill>
                        </a:rPr>
                        <a:t>How do all 12 tasks combine in one view?</a:t>
                      </a:r>
                    </a:p>
                  </a:txBody>
                  <a:tcPr anchor="ctr">
                    <a:solidFill>
                      <a:srgbClr val="D6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A2342"/>
                          </a:solidFill>
                        </a:rPr>
                        <a:t>Microsoft Excel</a:t>
                      </a:r>
                    </a:p>
                  </a:txBody>
                  <a:tcPr anchor="ctr">
                    <a:solidFill>
                      <a:srgbClr val="D6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37160"/>
            <a:ext cx="10332720" cy="822960"/>
          </a:xfrm>
        </p:spPr>
        <p:txBody>
          <a:bodyPr wrap="square" anchor="ctr"/>
          <a:lstStyle/>
          <a:p>
            <a:pPr algn="ctr"/>
            <a:r>
              <a:rPr sz="2200" b="1" cap="none" spc="0">
                <a:solidFill>
                  <a:srgbClr val="F9D423"/>
                </a:solidFill>
              </a:rPr>
              <a:t>OBJECTIVE 1 :- Evaluate Hiring Demand Across Companies, Locations and Experience Levels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55448"/>
            <a:ext cx="777240" cy="777240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34924" y="233172"/>
            <a:ext cx="621792" cy="621792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12647" y="310896"/>
            <a:ext cx="466344" cy="466344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90372" y="388620"/>
            <a:ext cx="310895" cy="310895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68096" y="466344"/>
            <a:ext cx="155447" cy="155447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 flipV="1">
            <a:off x="845820" y="116586"/>
            <a:ext cx="388620" cy="427482"/>
          </a:xfrm>
          <a:prstGeom prst="line">
            <a:avLst/>
          </a:prstGeom>
          <a:ln w="38100">
            <a:solidFill>
              <a:srgbClr val="5BC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" y="1143000"/>
            <a:ext cx="5532120" cy="640080"/>
          </a:xfrm>
          <a:prstGeom prst="roundRect">
            <a:avLst>
              <a:gd name="adj" fmla="val 12000"/>
            </a:avLst>
          </a:prstGeom>
          <a:solidFill>
            <a:srgbClr val="5BC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0A2342"/>
                </a:solidFill>
              </a:rPr>
              <a:t>Task 1 · Top 10 Companies by Job Postings (Bar chart)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74519"/>
            <a:ext cx="5532120" cy="3520440"/>
          </a:xfrm>
          <a:prstGeom prst="roundRect">
            <a:avLst>
              <a:gd name="adj" fmla="val 3000"/>
            </a:avLst>
          </a:prstGeom>
          <a:solidFill>
            <a:srgbClr val="0E2E57"/>
          </a:solidFill>
          <a:ln>
            <a:solidFill>
              <a:srgbClr val="2B4A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30352" y="1920240"/>
          <a:ext cx="5385816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457200" y="5504688"/>
            <a:ext cx="5532120" cy="1005840"/>
          </a:xfrm>
          <a:prstGeom prst="roundRect">
            <a:avLst>
              <a:gd name="adj" fmla="val 12000"/>
            </a:avLst>
          </a:prstGeom>
          <a:solidFill>
            <a:srgbClr val="5BC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1">
                <a:solidFill>
                  <a:srgbClr val="7A1020"/>
                </a:solidFill>
              </a:rPr>
              <a:t>Key insight: </a:t>
            </a:r>
            <a:r>
              <a:rPr sz="1300" b="1">
                <a:solidFill>
                  <a:srgbClr val="0A2342"/>
                </a:solidFill>
              </a:rPr>
              <a:t>Liberty Healthcare (341) and The Job Network (318) post the most jobs; Sales Manager is the most advertised role (228).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143000"/>
            <a:ext cx="5532120" cy="640080"/>
          </a:xfrm>
          <a:prstGeom prst="roundRect">
            <a:avLst>
              <a:gd name="adj" fmla="val 12000"/>
            </a:avLst>
          </a:prstGeom>
          <a:solidFill>
            <a:srgbClr val="5BC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0A2342"/>
                </a:solidFill>
              </a:rPr>
              <a:t>Task 2 · Top 10 Locations by Job Postings (Column chart)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874519"/>
            <a:ext cx="5532120" cy="3520440"/>
          </a:xfrm>
          <a:prstGeom prst="roundRect">
            <a:avLst>
              <a:gd name="adj" fmla="val 3000"/>
            </a:avLst>
          </a:prstGeom>
          <a:solidFill>
            <a:srgbClr val="0E2E57"/>
          </a:solidFill>
          <a:ln>
            <a:solidFill>
              <a:srgbClr val="2B4A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245352" y="1920240"/>
          <a:ext cx="5385816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6172200" y="5504688"/>
            <a:ext cx="5532120" cy="1005840"/>
          </a:xfrm>
          <a:prstGeom prst="roundRect">
            <a:avLst>
              <a:gd name="adj" fmla="val 12000"/>
            </a:avLst>
          </a:prstGeom>
          <a:solidFill>
            <a:srgbClr val="5BC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1">
                <a:solidFill>
                  <a:srgbClr val="7A1020"/>
                </a:solidFill>
              </a:rPr>
              <a:t>Key insight: </a:t>
            </a:r>
            <a:r>
              <a:rPr sz="1300" b="1">
                <a:solidFill>
                  <a:srgbClr val="0A2342"/>
                </a:solidFill>
              </a:rPr>
              <a:t>New York leads with 866 postings; Houston and Chicago follow with 565 each, and Texas cities fill 3 of the top 9.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37160"/>
            <a:ext cx="10332720" cy="822960"/>
          </a:xfrm>
        </p:spPr>
        <p:txBody>
          <a:bodyPr wrap="square" anchor="ctr"/>
          <a:lstStyle/>
          <a:p>
            <a:pPr algn="ctr"/>
            <a:r>
              <a:rPr sz="2200" b="1" cap="none" spc="0">
                <a:solidFill>
                  <a:srgbClr val="F9D423"/>
                </a:solidFill>
              </a:rPr>
              <a:t>OBJECTIVE 1 :- Evaluate Hiring Demand Across Companies, Locations and Experience Levels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55448"/>
            <a:ext cx="777240" cy="777240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34924" y="233172"/>
            <a:ext cx="621792" cy="621792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12647" y="310896"/>
            <a:ext cx="466344" cy="466344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90372" y="388620"/>
            <a:ext cx="310895" cy="310895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68096" y="466344"/>
            <a:ext cx="155447" cy="155447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 flipV="1">
            <a:off x="845820" y="116586"/>
            <a:ext cx="388620" cy="427482"/>
          </a:xfrm>
          <a:prstGeom prst="line">
            <a:avLst/>
          </a:prstGeom>
          <a:ln w="38100">
            <a:solidFill>
              <a:srgbClr val="5BC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" y="1143000"/>
            <a:ext cx="5532120" cy="640080"/>
          </a:xfrm>
          <a:prstGeom prst="roundRect">
            <a:avLst>
              <a:gd name="adj" fmla="val 12000"/>
            </a:avLst>
          </a:prstGeom>
          <a:solidFill>
            <a:srgbClr val="5BC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0A2342"/>
                </a:solidFill>
              </a:rPr>
              <a:t>Task 3 · Hiring Demand by Experience Level (Column chart)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74519"/>
            <a:ext cx="5532120" cy="3520440"/>
          </a:xfrm>
          <a:prstGeom prst="roundRect">
            <a:avLst>
              <a:gd name="adj" fmla="val 3000"/>
            </a:avLst>
          </a:prstGeom>
          <a:solidFill>
            <a:srgbClr val="0E2E57"/>
          </a:solidFill>
          <a:ln>
            <a:solidFill>
              <a:srgbClr val="2B4A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30352" y="1920240"/>
          <a:ext cx="5385816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457200" y="5504688"/>
            <a:ext cx="5532120" cy="1005840"/>
          </a:xfrm>
          <a:prstGeom prst="roundRect">
            <a:avLst>
              <a:gd name="adj" fmla="val 12000"/>
            </a:avLst>
          </a:prstGeom>
          <a:solidFill>
            <a:srgbClr val="5BC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1">
                <a:solidFill>
                  <a:srgbClr val="7A1020"/>
                </a:solidFill>
              </a:rPr>
              <a:t>Key insight: </a:t>
            </a:r>
            <a:r>
              <a:rPr sz="1300" b="1">
                <a:solidFill>
                  <a:srgbClr val="0A2342"/>
                </a:solidFill>
              </a:rPr>
              <a:t>Mid-Senior (13,499) and Entry (11,881) roles make up 83% of postings with a stated level; Internship and Executive are under 2% each.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143000"/>
            <a:ext cx="5532120" cy="640080"/>
          </a:xfrm>
          <a:prstGeom prst="roundRect">
            <a:avLst>
              <a:gd name="adj" fmla="val 12000"/>
            </a:avLst>
          </a:prstGeom>
          <a:solidFill>
            <a:srgbClr val="5BC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0A2342"/>
                </a:solidFill>
              </a:rPr>
              <a:t>Task 4 · Work-Type Mix within Each Experience Level (100% stacked bar)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874519"/>
            <a:ext cx="5532120" cy="3520440"/>
          </a:xfrm>
          <a:prstGeom prst="roundRect">
            <a:avLst>
              <a:gd name="adj" fmla="val 3000"/>
            </a:avLst>
          </a:prstGeom>
          <a:solidFill>
            <a:srgbClr val="0E2E57"/>
          </a:solidFill>
          <a:ln>
            <a:solidFill>
              <a:srgbClr val="2B4A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245352" y="1920240"/>
          <a:ext cx="5385816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6172200" y="5504688"/>
            <a:ext cx="5532120" cy="1005840"/>
          </a:xfrm>
          <a:prstGeom prst="roundRect">
            <a:avLst>
              <a:gd name="adj" fmla="val 12000"/>
            </a:avLst>
          </a:prstGeom>
          <a:solidFill>
            <a:srgbClr val="5BC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1">
                <a:solidFill>
                  <a:srgbClr val="7A1020"/>
                </a:solidFill>
              </a:rPr>
              <a:t>Key insight: </a:t>
            </a:r>
            <a:r>
              <a:rPr sz="1300" b="1">
                <a:solidFill>
                  <a:srgbClr val="0A2342"/>
                </a:solidFill>
              </a:rPr>
              <a:t>Full-time dominates every level (53% to 94% of postings); Part-time is strongest at Entry level (14%).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37160"/>
            <a:ext cx="10332720" cy="822960"/>
          </a:xfrm>
        </p:spPr>
        <p:txBody>
          <a:bodyPr wrap="square" anchor="ctr"/>
          <a:lstStyle/>
          <a:p>
            <a:pPr algn="ctr"/>
            <a:r>
              <a:rPr sz="2200" b="1" cap="none" spc="0">
                <a:solidFill>
                  <a:srgbClr val="F9D423"/>
                </a:solidFill>
              </a:rPr>
              <a:t>OBJECTIVE 2 :- Analyze Salary Patterns, Remote Work and Job-Family Demand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55448"/>
            <a:ext cx="777240" cy="777240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34924" y="233172"/>
            <a:ext cx="621792" cy="621792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12647" y="310896"/>
            <a:ext cx="466344" cy="466344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90372" y="388620"/>
            <a:ext cx="310895" cy="310895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68096" y="466344"/>
            <a:ext cx="155447" cy="155447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 flipV="1">
            <a:off x="845820" y="116586"/>
            <a:ext cx="388620" cy="427482"/>
          </a:xfrm>
          <a:prstGeom prst="line">
            <a:avLst/>
          </a:prstGeom>
          <a:ln w="38100">
            <a:solidFill>
              <a:srgbClr val="5BC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" y="1143000"/>
            <a:ext cx="5532120" cy="640080"/>
          </a:xfrm>
          <a:prstGeom prst="roundRect">
            <a:avLst>
              <a:gd name="adj" fmla="val 12000"/>
            </a:avLst>
          </a:prstGeom>
          <a:solidFill>
            <a:srgbClr val="5BC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0A2342"/>
                </a:solidFill>
              </a:rPr>
              <a:t>Task 5 · Top 10 Job Titles by Average Salary (Bar chart)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74519"/>
            <a:ext cx="5532120" cy="3520440"/>
          </a:xfrm>
          <a:prstGeom prst="roundRect">
            <a:avLst>
              <a:gd name="adj" fmla="val 3000"/>
            </a:avLst>
          </a:prstGeom>
          <a:solidFill>
            <a:srgbClr val="0E2E57"/>
          </a:solidFill>
          <a:ln>
            <a:solidFill>
              <a:srgbClr val="2B4A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30352" y="1920240"/>
          <a:ext cx="5385816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457200" y="5504688"/>
            <a:ext cx="5532120" cy="1005840"/>
          </a:xfrm>
          <a:prstGeom prst="roundRect">
            <a:avLst>
              <a:gd name="adj" fmla="val 12000"/>
            </a:avLst>
          </a:prstGeom>
          <a:solidFill>
            <a:srgbClr val="5BC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1">
                <a:solidFill>
                  <a:srgbClr val="7A1020"/>
                </a:solidFill>
              </a:rPr>
              <a:t>Key insight: </a:t>
            </a:r>
            <a:r>
              <a:rPr sz="1300" b="1">
                <a:solidFill>
                  <a:srgbClr val="0A2342"/>
                </a:solidFill>
              </a:rPr>
              <a:t>BigLaw Partner listings top the list at $925K; Oral Surgeon ($650K) and CISO ($632K) follow. Values above $1M were excluded as data errors.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143000"/>
            <a:ext cx="5532120" cy="640080"/>
          </a:xfrm>
          <a:prstGeom prst="roundRect">
            <a:avLst>
              <a:gd name="adj" fmla="val 12000"/>
            </a:avLst>
          </a:prstGeom>
          <a:solidFill>
            <a:srgbClr val="5BC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0A2342"/>
                </a:solidFill>
              </a:rPr>
              <a:t>Task 6 · Top 10 Locations by Average Salary (Column chart)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874519"/>
            <a:ext cx="5532120" cy="3520440"/>
          </a:xfrm>
          <a:prstGeom prst="roundRect">
            <a:avLst>
              <a:gd name="adj" fmla="val 3000"/>
            </a:avLst>
          </a:prstGeom>
          <a:solidFill>
            <a:srgbClr val="0E2E57"/>
          </a:solidFill>
          <a:ln>
            <a:solidFill>
              <a:srgbClr val="2B4A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245352" y="1920240"/>
          <a:ext cx="5385816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6172200" y="5504688"/>
            <a:ext cx="5532120" cy="1005840"/>
          </a:xfrm>
          <a:prstGeom prst="roundRect">
            <a:avLst>
              <a:gd name="adj" fmla="val 12000"/>
            </a:avLst>
          </a:prstGeom>
          <a:solidFill>
            <a:srgbClr val="5BC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1">
                <a:solidFill>
                  <a:srgbClr val="7A1020"/>
                </a:solidFill>
              </a:rPr>
              <a:t>Key insight: </a:t>
            </a:r>
            <a:r>
              <a:rPr sz="1300" b="1">
                <a:solidFill>
                  <a:srgbClr val="0A2342"/>
                </a:solidFill>
              </a:rPr>
              <a:t>Top location averages ($290K-$700K) come from one or two postings in small markets, so treat them as outliers, not benchmarks.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37160"/>
            <a:ext cx="10332720" cy="822960"/>
          </a:xfrm>
        </p:spPr>
        <p:txBody>
          <a:bodyPr wrap="square" anchor="ctr"/>
          <a:lstStyle/>
          <a:p>
            <a:pPr algn="ctr"/>
            <a:r>
              <a:rPr sz="2200" b="1" cap="none" spc="0">
                <a:solidFill>
                  <a:srgbClr val="F9D423"/>
                </a:solidFill>
              </a:rPr>
              <a:t>OBJECTIVE 2 :- Analyze Salary Patterns, Remote Work and Job-Family Demand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55448"/>
            <a:ext cx="777240" cy="777240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34924" y="233172"/>
            <a:ext cx="621792" cy="621792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12647" y="310896"/>
            <a:ext cx="466344" cy="466344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90372" y="388620"/>
            <a:ext cx="310895" cy="310895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68096" y="466344"/>
            <a:ext cx="155447" cy="155447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 flipV="1">
            <a:off x="845820" y="116586"/>
            <a:ext cx="388620" cy="427482"/>
          </a:xfrm>
          <a:prstGeom prst="line">
            <a:avLst/>
          </a:prstGeom>
          <a:ln w="38100">
            <a:solidFill>
              <a:srgbClr val="5BC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" y="1143000"/>
            <a:ext cx="5532120" cy="640080"/>
          </a:xfrm>
          <a:prstGeom prst="roundRect">
            <a:avLst>
              <a:gd name="adj" fmla="val 12000"/>
            </a:avLst>
          </a:prstGeom>
          <a:solidFill>
            <a:srgbClr val="5BC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0A2342"/>
                </a:solidFill>
              </a:rPr>
              <a:t>Task 7 · Remote-Allowed Jobs Build-Up by Work Type (Waterfall)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74519"/>
            <a:ext cx="5532120" cy="3520440"/>
          </a:xfrm>
          <a:prstGeom prst="roundRect">
            <a:avLst>
              <a:gd name="adj" fmla="val 3000"/>
            </a:avLst>
          </a:prstGeom>
          <a:solidFill>
            <a:srgbClr val="0E2E57"/>
          </a:solidFill>
          <a:ln>
            <a:solidFill>
              <a:srgbClr val="2B4A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30352" y="1920240"/>
          <a:ext cx="5385816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457200" y="5504688"/>
            <a:ext cx="5532120" cy="1005840"/>
          </a:xfrm>
          <a:prstGeom prst="roundRect">
            <a:avLst>
              <a:gd name="adj" fmla="val 12000"/>
            </a:avLst>
          </a:prstGeom>
          <a:solidFill>
            <a:srgbClr val="5BC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1">
                <a:solidFill>
                  <a:srgbClr val="7A1020"/>
                </a:solidFill>
              </a:rPr>
              <a:t>Key insight: </a:t>
            </a:r>
            <a:r>
              <a:rPr sz="1300" b="1">
                <a:solidFill>
                  <a:srgbClr val="0A2342"/>
                </a:solidFill>
              </a:rPr>
              <a:t>Full-time adds 3,577 of the 4,892 remote-allowed jobs (73%) and Contract adds 983 (20%); only 12.2% of all postings are remote.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143000"/>
            <a:ext cx="5532120" cy="640080"/>
          </a:xfrm>
          <a:prstGeom prst="roundRect">
            <a:avLst>
              <a:gd name="adj" fmla="val 12000"/>
            </a:avLst>
          </a:prstGeom>
          <a:solidFill>
            <a:srgbClr val="5BC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0A2342"/>
                </a:solidFill>
              </a:rPr>
              <a:t>Task 8 · Hiring Demand by Job Family and Work Type (Stacked bar)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874519"/>
            <a:ext cx="5532120" cy="3520440"/>
          </a:xfrm>
          <a:prstGeom prst="roundRect">
            <a:avLst>
              <a:gd name="adj" fmla="val 3000"/>
            </a:avLst>
          </a:prstGeom>
          <a:solidFill>
            <a:srgbClr val="0E2E57"/>
          </a:solidFill>
          <a:ln>
            <a:solidFill>
              <a:srgbClr val="2B4A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245352" y="1920240"/>
          <a:ext cx="5385816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6172200" y="5504688"/>
            <a:ext cx="5532120" cy="1005840"/>
          </a:xfrm>
          <a:prstGeom prst="roundRect">
            <a:avLst>
              <a:gd name="adj" fmla="val 12000"/>
            </a:avLst>
          </a:prstGeom>
          <a:solidFill>
            <a:srgbClr val="5BC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1">
                <a:solidFill>
                  <a:srgbClr val="7A1020"/>
                </a:solidFill>
              </a:rPr>
              <a:t>Key insight: </a:t>
            </a:r>
            <a:r>
              <a:rPr sz="1300" b="1">
                <a:solidFill>
                  <a:srgbClr val="0A2342"/>
                </a:solidFill>
              </a:rPr>
              <a:t>Engineering, Healthcare and Sales hold 52% of named postings; Full-time leads every family and Tech &amp; Data uses the most Contract roles (763).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37160"/>
            <a:ext cx="10332720" cy="822960"/>
          </a:xfrm>
        </p:spPr>
        <p:txBody>
          <a:bodyPr wrap="square" anchor="ctr"/>
          <a:lstStyle/>
          <a:p>
            <a:pPr algn="ctr"/>
            <a:r>
              <a:rPr sz="2200" b="1" cap="none" spc="0">
                <a:solidFill>
                  <a:srgbClr val="F9D423"/>
                </a:solidFill>
              </a:rPr>
              <a:t>OBJECTIVE 3 :- Compare Job Families on Experience, Candidate Interest and Demand Concentration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55448"/>
            <a:ext cx="777240" cy="777240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34924" y="233172"/>
            <a:ext cx="621792" cy="621792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12647" y="310896"/>
            <a:ext cx="466344" cy="466344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90372" y="388620"/>
            <a:ext cx="310895" cy="310895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68096" y="466344"/>
            <a:ext cx="155447" cy="155447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 flipV="1">
            <a:off x="845820" y="116586"/>
            <a:ext cx="388620" cy="427482"/>
          </a:xfrm>
          <a:prstGeom prst="line">
            <a:avLst/>
          </a:prstGeom>
          <a:ln w="38100">
            <a:solidFill>
              <a:srgbClr val="5BC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7200" y="1143000"/>
            <a:ext cx="11247120" cy="640080"/>
          </a:xfrm>
          <a:prstGeom prst="roundRect">
            <a:avLst>
              <a:gd name="adj" fmla="val 12000"/>
            </a:avLst>
          </a:prstGeom>
          <a:solidFill>
            <a:srgbClr val="5BC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0A2342"/>
                </a:solidFill>
              </a:rPr>
              <a:t>Task 9 · Experience Level by Job Family (Stacked column)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874519"/>
            <a:ext cx="11247120" cy="3520440"/>
          </a:xfrm>
          <a:prstGeom prst="roundRect">
            <a:avLst>
              <a:gd name="adj" fmla="val 3000"/>
            </a:avLst>
          </a:prstGeom>
          <a:solidFill>
            <a:srgbClr val="0E2E57"/>
          </a:solidFill>
          <a:ln>
            <a:solidFill>
              <a:srgbClr val="2B4A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530352" y="1920240"/>
          <a:ext cx="11100816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457200" y="5504688"/>
            <a:ext cx="11247120" cy="1005840"/>
          </a:xfrm>
          <a:prstGeom prst="roundRect">
            <a:avLst>
              <a:gd name="adj" fmla="val 12000"/>
            </a:avLst>
          </a:prstGeom>
          <a:solidFill>
            <a:srgbClr val="5BC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1">
                <a:solidFill>
                  <a:srgbClr val="7A1020"/>
                </a:solidFill>
              </a:rPr>
              <a:t>Key insight: </a:t>
            </a:r>
            <a:r>
              <a:rPr sz="1300" b="1">
                <a:solidFill>
                  <a:srgbClr val="0A2342"/>
                </a:solidFill>
              </a:rPr>
              <a:t>Entry level dominates Engineering (1,972), while Tech &amp; Data leans Mid-Senior (1,113 vs 400 Entry); Finance &amp; Accounting also skews Mid-Senior (669 vs 262). Dir./Exec./Intern = Director + Executive + Internship.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37160"/>
            <a:ext cx="10332720" cy="822960"/>
          </a:xfrm>
        </p:spPr>
        <p:txBody>
          <a:bodyPr wrap="square" anchor="ctr"/>
          <a:lstStyle/>
          <a:p>
            <a:pPr algn="ctr"/>
            <a:r>
              <a:rPr sz="2200" b="1" cap="none" spc="0">
                <a:solidFill>
                  <a:srgbClr val="F9D423"/>
                </a:solidFill>
              </a:rPr>
              <a:t>OBJECTIVE 3 :- Compare Job Families on Experience, Candidate Interest and Demand Concentration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55448"/>
            <a:ext cx="777240" cy="777240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34924" y="233172"/>
            <a:ext cx="621792" cy="621792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12647" y="310896"/>
            <a:ext cx="466344" cy="466344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90372" y="388620"/>
            <a:ext cx="310895" cy="310895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68096" y="466344"/>
            <a:ext cx="155447" cy="155447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 flipV="1">
            <a:off x="845820" y="116586"/>
            <a:ext cx="388620" cy="427482"/>
          </a:xfrm>
          <a:prstGeom prst="line">
            <a:avLst/>
          </a:prstGeom>
          <a:ln w="38100">
            <a:solidFill>
              <a:srgbClr val="5BC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" y="1143000"/>
            <a:ext cx="5532120" cy="640080"/>
          </a:xfrm>
          <a:prstGeom prst="roundRect">
            <a:avLst>
              <a:gd name="adj" fmla="val 12000"/>
            </a:avLst>
          </a:prstGeom>
          <a:solidFill>
            <a:srgbClr val="5BC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0A2342"/>
                </a:solidFill>
              </a:rPr>
              <a:t>Task 10 · Views vs Applications by Job Family (Scatter plot)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74519"/>
            <a:ext cx="5532120" cy="3520440"/>
          </a:xfrm>
          <a:prstGeom prst="roundRect">
            <a:avLst>
              <a:gd name="adj" fmla="val 3000"/>
            </a:avLst>
          </a:prstGeom>
          <a:solidFill>
            <a:srgbClr val="0E2E57"/>
          </a:solidFill>
          <a:ln>
            <a:solidFill>
              <a:srgbClr val="2B4A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1" name="Char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5113455"/>
              </p:ext>
            </p:extLst>
          </p:nvPr>
        </p:nvGraphicFramePr>
        <p:xfrm>
          <a:off x="530352" y="1920240"/>
          <a:ext cx="5385816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457200" y="5504688"/>
            <a:ext cx="5532120" cy="1005840"/>
          </a:xfrm>
          <a:prstGeom prst="roundRect">
            <a:avLst>
              <a:gd name="adj" fmla="val 12000"/>
            </a:avLst>
          </a:prstGeom>
          <a:solidFill>
            <a:srgbClr val="5BC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1">
                <a:solidFill>
                  <a:srgbClr val="7A1020"/>
                </a:solidFill>
              </a:rPr>
              <a:t>Key insight: </a:t>
            </a:r>
            <a:r>
              <a:rPr sz="1300" b="1">
                <a:solidFill>
                  <a:srgbClr val="0A2342"/>
                </a:solidFill>
              </a:rPr>
              <a:t>More views go with more applications; Tech &amp; Data stands far above the rest (83.5K views, 21.4K applications).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143000"/>
            <a:ext cx="5532120" cy="640080"/>
          </a:xfrm>
          <a:prstGeom prst="roundRect">
            <a:avLst>
              <a:gd name="adj" fmla="val 12000"/>
            </a:avLst>
          </a:prstGeom>
          <a:solidFill>
            <a:srgbClr val="5BC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0A2342"/>
                </a:solidFill>
              </a:rPr>
              <a:t>Task 11 · Applications per 100 Views by Job Family (Bar chart)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874519"/>
            <a:ext cx="5532120" cy="3520440"/>
          </a:xfrm>
          <a:prstGeom prst="roundRect">
            <a:avLst>
              <a:gd name="adj" fmla="val 3000"/>
            </a:avLst>
          </a:prstGeom>
          <a:solidFill>
            <a:srgbClr val="0E2E57"/>
          </a:solidFill>
          <a:ln>
            <a:solidFill>
              <a:srgbClr val="2B4A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245352" y="1920240"/>
          <a:ext cx="5385816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6172200" y="5504688"/>
            <a:ext cx="5532120" cy="1005840"/>
          </a:xfrm>
          <a:prstGeom prst="roundRect">
            <a:avLst>
              <a:gd name="adj" fmla="val 12000"/>
            </a:avLst>
          </a:prstGeom>
          <a:solidFill>
            <a:srgbClr val="5BC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1">
                <a:solidFill>
                  <a:srgbClr val="7A1020"/>
                </a:solidFill>
              </a:rPr>
              <a:t>Key insight: </a:t>
            </a:r>
            <a:r>
              <a:rPr sz="1300" b="1">
                <a:solidFill>
                  <a:srgbClr val="0A2342"/>
                </a:solidFill>
              </a:rPr>
              <a:t>Tech &amp; Data converts best (25.7 applications per 100 views); Education (4.6) and Healthcare (5.0) convert least. Overall rate is 13.9.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37160"/>
            <a:ext cx="10332720" cy="822960"/>
          </a:xfrm>
        </p:spPr>
        <p:txBody>
          <a:bodyPr wrap="square" anchor="ctr"/>
          <a:lstStyle/>
          <a:p>
            <a:pPr algn="ctr"/>
            <a:r>
              <a:rPr sz="2200" b="1" cap="none" spc="0">
                <a:solidFill>
                  <a:srgbClr val="F9D423"/>
                </a:solidFill>
              </a:rPr>
              <a:t>TASK 12 :- Share of Postings by Work Type and Concentration of Demand by Job Family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55448"/>
            <a:ext cx="777240" cy="777240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34924" y="233172"/>
            <a:ext cx="621792" cy="621792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12647" y="310896"/>
            <a:ext cx="466344" cy="466344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90372" y="388620"/>
            <a:ext cx="310895" cy="310895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68096" y="466344"/>
            <a:ext cx="155447" cy="155447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 flipV="1">
            <a:off x="845820" y="116586"/>
            <a:ext cx="388620" cy="427482"/>
          </a:xfrm>
          <a:prstGeom prst="line">
            <a:avLst/>
          </a:prstGeom>
          <a:ln w="38100">
            <a:solidFill>
              <a:srgbClr val="5BC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" y="1143000"/>
            <a:ext cx="5532120" cy="640080"/>
          </a:xfrm>
          <a:prstGeom prst="roundRect">
            <a:avLst>
              <a:gd name="adj" fmla="val 12000"/>
            </a:avLst>
          </a:prstGeom>
          <a:solidFill>
            <a:srgbClr val="5BC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0A2342"/>
                </a:solidFill>
              </a:rPr>
              <a:t>Task 12a · Share of Postings by Work Type (Pie chart)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74519"/>
            <a:ext cx="5532120" cy="3520440"/>
          </a:xfrm>
          <a:prstGeom prst="roundRect">
            <a:avLst>
              <a:gd name="adj" fmla="val 3000"/>
            </a:avLst>
          </a:prstGeom>
          <a:solidFill>
            <a:srgbClr val="0E2E57"/>
          </a:solidFill>
          <a:ln>
            <a:solidFill>
              <a:srgbClr val="2B4A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30352" y="1920240"/>
          <a:ext cx="5385816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457200" y="5504688"/>
            <a:ext cx="5532120" cy="1005840"/>
          </a:xfrm>
          <a:prstGeom prst="roundRect">
            <a:avLst>
              <a:gd name="adj" fmla="val 12000"/>
            </a:avLst>
          </a:prstGeom>
          <a:solidFill>
            <a:srgbClr val="5BC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1">
                <a:solidFill>
                  <a:srgbClr val="7A1020"/>
                </a:solidFill>
              </a:rPr>
              <a:t>Key insight: </a:t>
            </a:r>
            <a:r>
              <a:rPr sz="1300" b="1">
                <a:solidFill>
                  <a:srgbClr val="0A2342"/>
                </a:solidFill>
              </a:rPr>
              <a:t>Full-time is 79.8% of all postings (31,939); Contract (9.6%) and Part-time (7.9%) together are only 17.5%, so hiring is mostly full-time.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143000"/>
            <a:ext cx="5532120" cy="640080"/>
          </a:xfrm>
          <a:prstGeom prst="roundRect">
            <a:avLst>
              <a:gd name="adj" fmla="val 12000"/>
            </a:avLst>
          </a:prstGeom>
          <a:solidFill>
            <a:srgbClr val="5BC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0A2342"/>
                </a:solidFill>
              </a:rPr>
              <a:t>Task 12b · Job-Family Demand with Cumulative Share (Pareto chart)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874519"/>
            <a:ext cx="5532120" cy="3520440"/>
          </a:xfrm>
          <a:prstGeom prst="roundRect">
            <a:avLst>
              <a:gd name="adj" fmla="val 3000"/>
            </a:avLst>
          </a:prstGeom>
          <a:solidFill>
            <a:srgbClr val="0E2E57"/>
          </a:solidFill>
          <a:ln>
            <a:solidFill>
              <a:srgbClr val="2B4A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245352" y="1920240"/>
          <a:ext cx="5385816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6172200" y="5504688"/>
            <a:ext cx="5532120" cy="1005840"/>
          </a:xfrm>
          <a:prstGeom prst="roundRect">
            <a:avLst>
              <a:gd name="adj" fmla="val 12000"/>
            </a:avLst>
          </a:prstGeom>
          <a:solidFill>
            <a:srgbClr val="5BC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1">
                <a:solidFill>
                  <a:srgbClr val="7A1020"/>
                </a:solidFill>
              </a:rPr>
              <a:t>Key insight: </a:t>
            </a:r>
            <a:r>
              <a:rPr sz="1300" b="1">
                <a:solidFill>
                  <a:srgbClr val="0A2342"/>
                </a:solidFill>
              </a:rPr>
              <a:t>Unclassified 'Other' is the biggest bucket (41.5%); Engineering, Healthcare and Sales add 30.7 points, and the top six categories reach 85% of all postings.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4320" y="109728"/>
            <a:ext cx="11640312" cy="621792"/>
          </a:xfrm>
          <a:prstGeom prst="roundRect">
            <a:avLst>
              <a:gd name="adj" fmla="val 12000"/>
            </a:avLst>
          </a:prstGeom>
          <a:solidFill>
            <a:srgbClr val="0E2E57"/>
          </a:solidFill>
          <a:ln>
            <a:solidFill>
              <a:srgbClr val="5BC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6583680" cy="62179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000" b="1">
                <a:solidFill>
                  <a:srgbClr val="F9D423"/>
                </a:solidFill>
              </a:rPr>
              <a:t>JOB MARKET INSIGHTS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09728"/>
            <a:ext cx="5486400" cy="62179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r"/>
            <a:r>
              <a:rPr sz="900" b="1">
                <a:solidFill>
                  <a:srgbClr val="5BC0EB"/>
                </a:solidFill>
              </a:rPr>
              <a:t>HIRING DEMAND  |  SALARY TRENDS  |  REMOTE WORK  |  WORKFORCE INSIGHT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822960"/>
            <a:ext cx="1761134" cy="621792"/>
          </a:xfrm>
          <a:prstGeom prst="roundRect">
            <a:avLst>
              <a:gd name="adj" fmla="val 10000"/>
            </a:avLst>
          </a:prstGeom>
          <a:solidFill>
            <a:srgbClr val="0E2E57"/>
          </a:solidFill>
          <a:ln>
            <a:solidFill>
              <a:srgbClr val="4AB1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859536"/>
            <a:ext cx="157825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5BC0EB"/>
                </a:solidFill>
              </a:rPr>
              <a:t>TOTAL JOB POSTINGS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042415"/>
            <a:ext cx="157825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4AB1FE"/>
                </a:solidFill>
              </a:rPr>
              <a:t>40,000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26894" y="822960"/>
            <a:ext cx="1761134" cy="621792"/>
          </a:xfrm>
          <a:prstGeom prst="roundRect">
            <a:avLst>
              <a:gd name="adj" fmla="val 10000"/>
            </a:avLst>
          </a:prstGeom>
          <a:solidFill>
            <a:srgbClr val="0E2E57"/>
          </a:solidFill>
          <a:ln>
            <a:solidFill>
              <a:srgbClr val="00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6622" y="859536"/>
            <a:ext cx="157825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5BC0EB"/>
                </a:solidFill>
              </a:rPr>
              <a:t>REMOTE JOBS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36622" y="1042415"/>
            <a:ext cx="157825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00C4B6"/>
                </a:solidFill>
              </a:rPr>
              <a:t>4,892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9468" y="822960"/>
            <a:ext cx="1761134" cy="621792"/>
          </a:xfrm>
          <a:prstGeom prst="roundRect">
            <a:avLst>
              <a:gd name="adj" fmla="val 10000"/>
            </a:avLst>
          </a:prstGeom>
          <a:solidFill>
            <a:srgbClr val="0E2E57"/>
          </a:solidFill>
          <a:ln>
            <a:solidFill>
              <a:srgbClr val="F2A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89196" y="859536"/>
            <a:ext cx="157825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5BC0EB"/>
                </a:solidFill>
              </a:rPr>
              <a:t>AVG SALARY (CLEANED)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89196" y="1042415"/>
            <a:ext cx="157825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F2A541"/>
                </a:solidFill>
              </a:rPr>
              <a:t>$95,049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32043" y="822960"/>
            <a:ext cx="2377440" cy="621792"/>
          </a:xfrm>
          <a:prstGeom prst="roundRect">
            <a:avLst>
              <a:gd name="adj" fmla="val 10000"/>
            </a:avLst>
          </a:prstGeom>
          <a:solidFill>
            <a:srgbClr val="0E2E57"/>
          </a:solidFill>
          <a:ln>
            <a:solidFill>
              <a:srgbClr val="B56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1771" y="859536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5BC0EB"/>
                </a:solidFill>
              </a:rPr>
              <a:t>TOP JOB CATEGORY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1771" y="1042415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B56CF0"/>
                </a:solidFill>
              </a:rPr>
              <a:t>Engineering &amp; Technical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1536192"/>
            <a:ext cx="2377440" cy="1042416"/>
          </a:xfrm>
          <a:prstGeom prst="roundRect">
            <a:avLst>
              <a:gd name="adj" fmla="val 4000"/>
            </a:avLst>
          </a:prstGeom>
          <a:solidFill>
            <a:srgbClr val="0E2E57"/>
          </a:solidFill>
          <a:ln>
            <a:solidFill>
              <a:srgbClr val="5BC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1581912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5BC0EB"/>
                </a:solidFill>
              </a:rPr>
              <a:t>▼  EXPERIENCE LEVEL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1810512"/>
            <a:ext cx="731520" cy="201168"/>
          </a:xfrm>
          <a:prstGeom prst="roundRect">
            <a:avLst>
              <a:gd name="adj" fmla="val 25000"/>
            </a:avLst>
          </a:prstGeom>
          <a:solidFill>
            <a:srgbClr val="5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Mid-Senior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1810512"/>
            <a:ext cx="457200" cy="201168"/>
          </a:xfrm>
          <a:prstGeom prst="roundRect">
            <a:avLst>
              <a:gd name="adj" fmla="val 25000"/>
            </a:avLst>
          </a:prstGeom>
          <a:solidFill>
            <a:srgbClr val="5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Entry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45920" y="1810512"/>
            <a:ext cx="676656" cy="201168"/>
          </a:xfrm>
          <a:prstGeom prst="roundRect">
            <a:avLst>
              <a:gd name="adj" fmla="val 25000"/>
            </a:avLst>
          </a:prstGeom>
          <a:solidFill>
            <a:srgbClr val="5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Associate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2057400"/>
            <a:ext cx="621792" cy="201168"/>
          </a:xfrm>
          <a:prstGeom prst="roundRect">
            <a:avLst>
              <a:gd name="adj" fmla="val 25000"/>
            </a:avLst>
          </a:prstGeom>
          <a:solidFill>
            <a:srgbClr val="5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Director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3271" y="2057400"/>
            <a:ext cx="731520" cy="201168"/>
          </a:xfrm>
          <a:prstGeom prst="roundRect">
            <a:avLst>
              <a:gd name="adj" fmla="val 25000"/>
            </a:avLst>
          </a:prstGeom>
          <a:solidFill>
            <a:srgbClr val="5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Internship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10512" y="2057400"/>
            <a:ext cx="676656" cy="201168"/>
          </a:xfrm>
          <a:prstGeom prst="roundRect">
            <a:avLst>
              <a:gd name="adj" fmla="val 25000"/>
            </a:avLst>
          </a:prstGeom>
          <a:solidFill>
            <a:srgbClr val="5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Executive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2304288"/>
            <a:ext cx="896112" cy="201168"/>
          </a:xfrm>
          <a:prstGeom prst="roundRect">
            <a:avLst>
              <a:gd name="adj" fmla="val 25000"/>
            </a:avLst>
          </a:prstGeom>
          <a:solidFill>
            <a:srgbClr val="5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Not specified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2642616"/>
            <a:ext cx="2377440" cy="1042416"/>
          </a:xfrm>
          <a:prstGeom prst="roundRect">
            <a:avLst>
              <a:gd name="adj" fmla="val 4000"/>
            </a:avLst>
          </a:prstGeom>
          <a:solidFill>
            <a:srgbClr val="0E2E57"/>
          </a:solidFill>
          <a:ln>
            <a:solidFill>
              <a:srgbClr val="5BC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2688336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5BC0EB"/>
                </a:solidFill>
              </a:rPr>
              <a:t>▼  WORK TYPE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2916936"/>
            <a:ext cx="676656" cy="201168"/>
          </a:xfrm>
          <a:prstGeom prst="roundRect">
            <a:avLst>
              <a:gd name="adj" fmla="val 25000"/>
            </a:avLst>
          </a:prstGeom>
          <a:solidFill>
            <a:srgbClr val="5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Full-time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88136" y="2916936"/>
            <a:ext cx="621792" cy="201168"/>
          </a:xfrm>
          <a:prstGeom prst="roundRect">
            <a:avLst>
              <a:gd name="adj" fmla="val 25000"/>
            </a:avLst>
          </a:prstGeom>
          <a:solidFill>
            <a:srgbClr val="5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Contract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755648" y="2916936"/>
            <a:ext cx="676656" cy="201168"/>
          </a:xfrm>
          <a:prstGeom prst="roundRect">
            <a:avLst>
              <a:gd name="adj" fmla="val 25000"/>
            </a:avLst>
          </a:prstGeom>
          <a:solidFill>
            <a:srgbClr val="5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Part-time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3163824"/>
            <a:ext cx="676656" cy="201168"/>
          </a:xfrm>
          <a:prstGeom prst="roundRect">
            <a:avLst>
              <a:gd name="adj" fmla="val 25000"/>
            </a:avLst>
          </a:prstGeom>
          <a:solidFill>
            <a:srgbClr val="5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Temporary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88136" y="3163824"/>
            <a:ext cx="731520" cy="201168"/>
          </a:xfrm>
          <a:prstGeom prst="roundRect">
            <a:avLst>
              <a:gd name="adj" fmla="val 25000"/>
            </a:avLst>
          </a:prstGeom>
          <a:solidFill>
            <a:srgbClr val="5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Internship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65376" y="3163824"/>
            <a:ext cx="676656" cy="201168"/>
          </a:xfrm>
          <a:prstGeom prst="roundRect">
            <a:avLst>
              <a:gd name="adj" fmla="val 25000"/>
            </a:avLst>
          </a:prstGeom>
          <a:solidFill>
            <a:srgbClr val="5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Volunteer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3410712"/>
            <a:ext cx="457200" cy="201168"/>
          </a:xfrm>
          <a:prstGeom prst="roundRect">
            <a:avLst>
              <a:gd name="adj" fmla="val 25000"/>
            </a:avLst>
          </a:prstGeom>
          <a:solidFill>
            <a:srgbClr val="5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Other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4320" y="3749040"/>
            <a:ext cx="2377440" cy="548640"/>
          </a:xfrm>
          <a:prstGeom prst="roundRect">
            <a:avLst>
              <a:gd name="adj" fmla="val 4000"/>
            </a:avLst>
          </a:prstGeom>
          <a:solidFill>
            <a:srgbClr val="0E2E57"/>
          </a:solidFill>
          <a:ln>
            <a:solidFill>
              <a:srgbClr val="5BC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65760" y="3794760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5BC0EB"/>
                </a:solidFill>
              </a:rPr>
              <a:t>▼  REMOTE STATUS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4023360"/>
            <a:ext cx="950976" cy="201168"/>
          </a:xfrm>
          <a:prstGeom prst="roundRect">
            <a:avLst>
              <a:gd name="adj" fmla="val 25000"/>
            </a:avLst>
          </a:prstGeom>
          <a:solidFill>
            <a:srgbClr val="5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Remote allowed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62456" y="4023360"/>
            <a:ext cx="896112" cy="201168"/>
          </a:xfrm>
          <a:prstGeom prst="roundRect">
            <a:avLst>
              <a:gd name="adj" fmla="val 25000"/>
            </a:avLst>
          </a:prstGeom>
          <a:solidFill>
            <a:srgbClr val="5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Not specified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4320" y="4361688"/>
            <a:ext cx="2377440" cy="1289304"/>
          </a:xfrm>
          <a:prstGeom prst="roundRect">
            <a:avLst>
              <a:gd name="adj" fmla="val 4000"/>
            </a:avLst>
          </a:prstGeom>
          <a:solidFill>
            <a:srgbClr val="0E2E57"/>
          </a:solidFill>
          <a:ln>
            <a:solidFill>
              <a:srgbClr val="5BC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65760" y="4407408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5BC0EB"/>
                </a:solidFill>
              </a:rPr>
              <a:t>▼  JOB FAMILY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5760" y="4636008"/>
            <a:ext cx="786383" cy="201168"/>
          </a:xfrm>
          <a:prstGeom prst="roundRect">
            <a:avLst>
              <a:gd name="adj" fmla="val 25000"/>
            </a:avLst>
          </a:prstGeom>
          <a:solidFill>
            <a:srgbClr val="5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Engineering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97864" y="4636008"/>
            <a:ext cx="731520" cy="201168"/>
          </a:xfrm>
          <a:prstGeom prst="roundRect">
            <a:avLst>
              <a:gd name="adj" fmla="val 25000"/>
            </a:avLst>
          </a:prstGeom>
          <a:solidFill>
            <a:srgbClr val="5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Healthcare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975104" y="4636008"/>
            <a:ext cx="457200" cy="201168"/>
          </a:xfrm>
          <a:prstGeom prst="roundRect">
            <a:avLst>
              <a:gd name="adj" fmla="val 25000"/>
            </a:avLst>
          </a:prstGeom>
          <a:solidFill>
            <a:srgbClr val="5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Sales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65760" y="4882896"/>
            <a:ext cx="731520" cy="201168"/>
          </a:xfrm>
          <a:prstGeom prst="roundRect">
            <a:avLst>
              <a:gd name="adj" fmla="val 25000"/>
            </a:avLst>
          </a:prstGeom>
          <a:solidFill>
            <a:srgbClr val="5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Operations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143000" y="4882896"/>
            <a:ext cx="786383" cy="201168"/>
          </a:xfrm>
          <a:prstGeom prst="roundRect">
            <a:avLst>
              <a:gd name="adj" fmla="val 25000"/>
            </a:avLst>
          </a:prstGeom>
          <a:solidFill>
            <a:srgbClr val="5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Tech &amp; Data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975104" y="4882896"/>
            <a:ext cx="457200" cy="201168"/>
          </a:xfrm>
          <a:prstGeom prst="roundRect">
            <a:avLst>
              <a:gd name="adj" fmla="val 25000"/>
            </a:avLst>
          </a:prstGeom>
          <a:solidFill>
            <a:srgbClr val="5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65760" y="5129784"/>
            <a:ext cx="566928" cy="201168"/>
          </a:xfrm>
          <a:prstGeom prst="roundRect">
            <a:avLst>
              <a:gd name="adj" fmla="val 25000"/>
            </a:avLst>
          </a:prstGeom>
          <a:solidFill>
            <a:srgbClr val="5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Finance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78408" y="5129784"/>
            <a:ext cx="676656" cy="201168"/>
          </a:xfrm>
          <a:prstGeom prst="roundRect">
            <a:avLst>
              <a:gd name="adj" fmla="val 25000"/>
            </a:avLst>
          </a:prstGeom>
          <a:solidFill>
            <a:srgbClr val="5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Marketing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700784" y="5129784"/>
            <a:ext cx="457200" cy="201168"/>
          </a:xfrm>
          <a:prstGeom prst="roundRect">
            <a:avLst>
              <a:gd name="adj" fmla="val 25000"/>
            </a:avLst>
          </a:prstGeom>
          <a:solidFill>
            <a:srgbClr val="5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Legal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65760" y="5376672"/>
            <a:ext cx="676656" cy="201168"/>
          </a:xfrm>
          <a:prstGeom prst="roundRect">
            <a:avLst>
              <a:gd name="adj" fmla="val 25000"/>
            </a:avLst>
          </a:prstGeom>
          <a:solidFill>
            <a:srgbClr val="5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Education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88136" y="5376672"/>
            <a:ext cx="292608" cy="201168"/>
          </a:xfrm>
          <a:prstGeom prst="roundRect">
            <a:avLst>
              <a:gd name="adj" fmla="val 25000"/>
            </a:avLst>
          </a:prstGeom>
          <a:solidFill>
            <a:srgbClr val="5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HR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426464" y="5376672"/>
            <a:ext cx="457200" cy="201168"/>
          </a:xfrm>
          <a:prstGeom prst="roundRect">
            <a:avLst>
              <a:gd name="adj" fmla="val 25000"/>
            </a:avLst>
          </a:prstGeom>
          <a:solidFill>
            <a:srgbClr val="5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Other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743200" y="1536192"/>
            <a:ext cx="3017520" cy="2011680"/>
          </a:xfrm>
          <a:prstGeom prst="roundRect">
            <a:avLst>
              <a:gd name="adj" fmla="val 3000"/>
            </a:avLst>
          </a:prstGeom>
          <a:solidFill>
            <a:srgbClr val="0E2E57"/>
          </a:solidFill>
          <a:ln>
            <a:solidFill>
              <a:srgbClr val="2B4A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788920" y="1563624"/>
            <a:ext cx="292607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9D423"/>
                </a:solidFill>
              </a:rPr>
              <a:t>Hiring demand by experience level (column)</a:t>
            </a:r>
          </a:p>
        </p:txBody>
      </p:sp>
      <p:graphicFrame>
        <p:nvGraphicFramePr>
          <p:cNvPr id="55" name="Chart 54"/>
          <p:cNvGraphicFramePr>
            <a:graphicFrameLocks noGrp="1"/>
          </p:cNvGraphicFramePr>
          <p:nvPr/>
        </p:nvGraphicFramePr>
        <p:xfrm>
          <a:off x="2779776" y="1828800"/>
          <a:ext cx="2944368" cy="16824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6" name="Rounded Rectangle 55"/>
          <p:cNvSpPr/>
          <p:nvPr/>
        </p:nvSpPr>
        <p:spPr>
          <a:xfrm>
            <a:off x="5820156" y="1536192"/>
            <a:ext cx="3017520" cy="2011680"/>
          </a:xfrm>
          <a:prstGeom prst="roundRect">
            <a:avLst>
              <a:gd name="adj" fmla="val 3000"/>
            </a:avLst>
          </a:prstGeom>
          <a:solidFill>
            <a:srgbClr val="0E2E57"/>
          </a:solidFill>
          <a:ln>
            <a:solidFill>
              <a:srgbClr val="2B4A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865876" y="1563624"/>
            <a:ext cx="292607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9D423"/>
                </a:solidFill>
              </a:rPr>
              <a:t>Top 10 locations by postings (bar)</a:t>
            </a:r>
          </a:p>
        </p:txBody>
      </p:sp>
      <p:graphicFrame>
        <p:nvGraphicFramePr>
          <p:cNvPr id="58" name="Chart 57"/>
          <p:cNvGraphicFramePr>
            <a:graphicFrameLocks noGrp="1"/>
          </p:cNvGraphicFramePr>
          <p:nvPr/>
        </p:nvGraphicFramePr>
        <p:xfrm>
          <a:off x="5856732" y="1828800"/>
          <a:ext cx="2944368" cy="16824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9" name="Rounded Rectangle 58"/>
          <p:cNvSpPr/>
          <p:nvPr/>
        </p:nvSpPr>
        <p:spPr>
          <a:xfrm>
            <a:off x="8897112" y="1536192"/>
            <a:ext cx="3017520" cy="2011680"/>
          </a:xfrm>
          <a:prstGeom prst="roundRect">
            <a:avLst>
              <a:gd name="adj" fmla="val 3000"/>
            </a:avLst>
          </a:prstGeom>
          <a:solidFill>
            <a:srgbClr val="0E2E57"/>
          </a:solidFill>
          <a:ln>
            <a:solidFill>
              <a:srgbClr val="2B4A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942832" y="1563624"/>
            <a:ext cx="292607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9D423"/>
                </a:solidFill>
              </a:rPr>
              <a:t>Remote jobs build-up by work type (waterfall)</a:t>
            </a:r>
          </a:p>
        </p:txBody>
      </p:sp>
      <p:graphicFrame>
        <p:nvGraphicFramePr>
          <p:cNvPr id="61" name="Chart 60"/>
          <p:cNvGraphicFramePr>
            <a:graphicFrameLocks noGrp="1"/>
          </p:cNvGraphicFramePr>
          <p:nvPr/>
        </p:nvGraphicFramePr>
        <p:xfrm>
          <a:off x="8933688" y="1828800"/>
          <a:ext cx="2944368" cy="16824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2" name="Rounded Rectangle 61"/>
          <p:cNvSpPr/>
          <p:nvPr/>
        </p:nvSpPr>
        <p:spPr>
          <a:xfrm>
            <a:off x="2743200" y="3639312"/>
            <a:ext cx="3017520" cy="2011680"/>
          </a:xfrm>
          <a:prstGeom prst="roundRect">
            <a:avLst>
              <a:gd name="adj" fmla="val 3000"/>
            </a:avLst>
          </a:prstGeom>
          <a:solidFill>
            <a:srgbClr val="0E2E57"/>
          </a:solidFill>
          <a:ln>
            <a:solidFill>
              <a:srgbClr val="2B4A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788920" y="3666744"/>
            <a:ext cx="292607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9D423"/>
                </a:solidFill>
              </a:rPr>
              <a:t>Hiring demand by job family &amp; work type (stacked)</a:t>
            </a:r>
          </a:p>
        </p:txBody>
      </p:sp>
      <p:graphicFrame>
        <p:nvGraphicFramePr>
          <p:cNvPr id="64" name="Chart 63"/>
          <p:cNvGraphicFramePr>
            <a:graphicFrameLocks noGrp="1"/>
          </p:cNvGraphicFramePr>
          <p:nvPr/>
        </p:nvGraphicFramePr>
        <p:xfrm>
          <a:off x="2779776" y="3931920"/>
          <a:ext cx="2944368" cy="16824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5" name="Rounded Rectangle 64"/>
          <p:cNvSpPr/>
          <p:nvPr/>
        </p:nvSpPr>
        <p:spPr>
          <a:xfrm>
            <a:off x="5820156" y="3639312"/>
            <a:ext cx="3017520" cy="2011680"/>
          </a:xfrm>
          <a:prstGeom prst="roundRect">
            <a:avLst>
              <a:gd name="adj" fmla="val 3000"/>
            </a:avLst>
          </a:prstGeom>
          <a:solidFill>
            <a:srgbClr val="0E2E57"/>
          </a:solidFill>
          <a:ln>
            <a:solidFill>
              <a:srgbClr val="2B4A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865876" y="3666744"/>
            <a:ext cx="292607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9D423"/>
                </a:solidFill>
              </a:rPr>
              <a:t>Views vs applications by job family (scatter)</a:t>
            </a:r>
          </a:p>
        </p:txBody>
      </p:sp>
      <p:graphicFrame>
        <p:nvGraphicFramePr>
          <p:cNvPr id="67" name="Chart 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5431950"/>
              </p:ext>
            </p:extLst>
          </p:nvPr>
        </p:nvGraphicFramePr>
        <p:xfrm>
          <a:off x="5856732" y="3931920"/>
          <a:ext cx="2944368" cy="16824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68" name="Rounded Rectangle 67"/>
          <p:cNvSpPr/>
          <p:nvPr/>
        </p:nvSpPr>
        <p:spPr>
          <a:xfrm>
            <a:off x="8897112" y="3639312"/>
            <a:ext cx="3017520" cy="2011680"/>
          </a:xfrm>
          <a:prstGeom prst="roundRect">
            <a:avLst>
              <a:gd name="adj" fmla="val 3000"/>
            </a:avLst>
          </a:prstGeom>
          <a:solidFill>
            <a:srgbClr val="0E2E57"/>
          </a:solidFill>
          <a:ln>
            <a:solidFill>
              <a:srgbClr val="2B4A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942832" y="3666744"/>
            <a:ext cx="292607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9D423"/>
                </a:solidFill>
              </a:rPr>
              <a:t>Applications per 100 views by job family (bar)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74320" y="5724144"/>
            <a:ext cx="5486400" cy="1042415"/>
          </a:xfrm>
          <a:prstGeom prst="roundRect">
            <a:avLst>
              <a:gd name="adj" fmla="val 8000"/>
            </a:avLst>
          </a:prstGeom>
          <a:solidFill>
            <a:srgbClr val="0E2E57"/>
          </a:solidFill>
          <a:ln>
            <a:solidFill>
              <a:srgbClr val="5BC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11480" y="5760720"/>
            <a:ext cx="5212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5BC0EB"/>
                </a:solidFill>
              </a:rPr>
              <a:t>BUSINESS NARRATIVE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11480" y="5961888"/>
            <a:ext cx="52120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EAF2FB"/>
                </a:solidFill>
              </a:rPr>
              <a:t>Hiring is concentrated in a few employers, cities and experience levels (New York 866; Mid-Senior 13,499; Entry 11,881). Full-time is 79.8% of postings and only 12.2% of jobs are remote. Pay peaks in niche senior roles, so use medians as benchmarks. Tech &amp; Data attracts the most candidates; Education and Healthcare convert least.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852160" y="5724144"/>
            <a:ext cx="6062472" cy="1042415"/>
          </a:xfrm>
          <a:prstGeom prst="roundRect">
            <a:avLst>
              <a:gd name="adj" fmla="val 8000"/>
            </a:avLst>
          </a:prstGeom>
          <a:solidFill>
            <a:srgbClr val="0E2E57"/>
          </a:solidFill>
          <a:ln>
            <a:solidFill>
              <a:srgbClr val="F2A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989320" y="5760720"/>
            <a:ext cx="5760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F2A541"/>
                </a:solidFill>
              </a:rPr>
              <a:t>KEY INSIGHTS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989320" y="5961888"/>
            <a:ext cx="28346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>
                <a:solidFill>
                  <a:srgbClr val="EAF2FB"/>
                </a:solidFill>
              </a:rPr>
              <a:t>1. New York leads with 866 postings; staffing and healthcare firms post most.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EAF2FB"/>
                </a:solidFill>
              </a:rPr>
              <a:t>2. Mid-Senior and Entry roles: 83% of postings.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EAF2FB"/>
                </a:solidFill>
              </a:rPr>
              <a:t>3. Full-time is 79.8%; only 12.2% of jobs are remote.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15400" y="5961888"/>
            <a:ext cx="28346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>
                <a:solidFill>
                  <a:srgbClr val="EAF2FB"/>
                </a:solidFill>
              </a:rPr>
              <a:t>4. Engineering, Healthcare and Sales hold about 52% of demand.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EAF2FB"/>
                </a:solidFill>
              </a:rPr>
              <a:t>5. Tech &amp; Data pays most (median ~$135K) and converts best.</a:t>
            </a:r>
          </a:p>
        </p:txBody>
      </p:sp>
      <p:sp>
        <p:nvSpPr>
          <p:cNvPr id="78" name="Rounded Rectangle 4"/>
          <p:cNvSpPr/>
          <p:nvPr/>
        </p:nvSpPr>
        <p:spPr>
          <a:xfrm>
            <a:off x="8300923" y="822960"/>
            <a:ext cx="1761134" cy="621792"/>
          </a:xfrm>
          <a:prstGeom prst="roundRect">
            <a:avLst>
              <a:gd name="adj" fmla="val 10000"/>
            </a:avLst>
          </a:prstGeom>
          <a:solidFill>
            <a:srgbClr val="0E2E57"/>
          </a:solidFill>
          <a:ln>
            <a:solidFill>
              <a:srgbClr val="4AB1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5"/>
          <p:cNvSpPr txBox="1"/>
          <p:nvPr/>
        </p:nvSpPr>
        <p:spPr>
          <a:xfrm>
            <a:off x="8410651" y="859536"/>
            <a:ext cx="157825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5BC0EB"/>
                </a:solidFill>
              </a:rPr>
              <a:t>CANDIDATE VIEWS</a:t>
            </a:r>
          </a:p>
        </p:txBody>
      </p:sp>
      <p:sp>
        <p:nvSpPr>
          <p:cNvPr id="80" name="TextBox 6"/>
          <p:cNvSpPr txBox="1"/>
          <p:nvPr/>
        </p:nvSpPr>
        <p:spPr>
          <a:xfrm>
            <a:off x="8410651" y="1042415"/>
            <a:ext cx="157825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4AB1FE"/>
                </a:solidFill>
              </a:rPr>
              <a:t>566,882</a:t>
            </a:r>
          </a:p>
        </p:txBody>
      </p:sp>
      <p:sp>
        <p:nvSpPr>
          <p:cNvPr id="81" name="Rounded Rectangle 7"/>
          <p:cNvSpPr/>
          <p:nvPr/>
        </p:nvSpPr>
        <p:spPr>
          <a:xfrm>
            <a:off x="10153497" y="822960"/>
            <a:ext cx="1761134" cy="621792"/>
          </a:xfrm>
          <a:prstGeom prst="roundRect">
            <a:avLst>
              <a:gd name="adj" fmla="val 10000"/>
            </a:avLst>
          </a:prstGeom>
          <a:solidFill>
            <a:srgbClr val="0E2E57"/>
          </a:solidFill>
          <a:ln>
            <a:solidFill>
              <a:srgbClr val="00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"/>
          <p:cNvSpPr txBox="1"/>
          <p:nvPr/>
        </p:nvSpPr>
        <p:spPr>
          <a:xfrm>
            <a:off x="10263225" y="859536"/>
            <a:ext cx="157825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5BC0EB"/>
                </a:solidFill>
              </a:rPr>
              <a:t>APPLIES PER 100 VIEWS</a:t>
            </a:r>
          </a:p>
        </p:txBody>
      </p:sp>
      <p:sp>
        <p:nvSpPr>
          <p:cNvPr id="83" name="TextBox 9"/>
          <p:cNvSpPr txBox="1"/>
          <p:nvPr/>
        </p:nvSpPr>
        <p:spPr>
          <a:xfrm>
            <a:off x="10263225" y="1042415"/>
            <a:ext cx="157825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00C4B6"/>
                </a:solidFill>
              </a:rPr>
              <a:t>13.9</a:t>
            </a:r>
          </a:p>
        </p:txBody>
      </p:sp>
      <p:graphicFrame>
        <p:nvGraphicFramePr>
          <p:cNvPr id="84" name="Chart 83"/>
          <p:cNvGraphicFramePr>
            <a:graphicFrameLocks noGrp="1"/>
          </p:cNvGraphicFramePr>
          <p:nvPr/>
        </p:nvGraphicFramePr>
        <p:xfrm>
          <a:off x="8933688" y="3931920"/>
          <a:ext cx="2944368" cy="16824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1680" y="182880"/>
            <a:ext cx="8138160" cy="640080"/>
          </a:xfrm>
        </p:spPr>
        <p:txBody>
          <a:bodyPr wrap="square" anchor="ctr"/>
          <a:lstStyle/>
          <a:p>
            <a:pPr algn="ctr"/>
            <a:r>
              <a:rPr sz="3000" b="1" cap="none" spc="0">
                <a:solidFill>
                  <a:srgbClr val="F9D423"/>
                </a:solidFill>
              </a:rPr>
              <a:t>SUMMARY OF ALL 12 TASKS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109728"/>
            <a:ext cx="777240" cy="777240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92124" y="187451"/>
            <a:ext cx="621792" cy="621792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69848" y="265176"/>
            <a:ext cx="466344" cy="466344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47572" y="342900"/>
            <a:ext cx="310895" cy="310895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225296" y="420624"/>
            <a:ext cx="155447" cy="155447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 flipV="1">
            <a:off x="1303020" y="70865"/>
            <a:ext cx="388620" cy="427482"/>
          </a:xfrm>
          <a:prstGeom prst="line">
            <a:avLst/>
          </a:prstGeom>
          <a:ln w="38100">
            <a:solidFill>
              <a:srgbClr val="5BC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Summary Table"/>
          <p:cNvGraphicFramePr>
            <a:graphicFrameLocks noGrp="1"/>
          </p:cNvGraphicFramePr>
          <p:nvPr/>
        </p:nvGraphicFramePr>
        <p:xfrm>
          <a:off x="457200" y="1097280"/>
          <a:ext cx="11247120" cy="4992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Task</a:t>
                      </a:r>
                    </a:p>
                  </a:txBody>
                  <a:tcPr marT="27432" marB="27432" anchor="ctr">
                    <a:solidFill>
                      <a:srgbClr val="1F7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Analysis (chart)</a:t>
                      </a:r>
                    </a:p>
                  </a:txBody>
                  <a:tcPr marT="27432" marB="27432" anchor="ctr">
                    <a:solidFill>
                      <a:srgbClr val="1F7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Key finding</a:t>
                      </a:r>
                    </a:p>
                  </a:txBody>
                  <a:tcPr marT="27432" marB="27432" anchor="ctr">
                    <a:solidFill>
                      <a:srgbClr val="1F78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A2342"/>
                          </a:solidFill>
                        </a:rPr>
                        <a:t>Task 1</a:t>
                      </a:r>
                    </a:p>
                  </a:txBody>
                  <a:tcPr marT="27432" marB="27432" anchor="ctr">
                    <a:solidFill>
                      <a:srgbClr val="D6E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2342"/>
                          </a:solidFill>
                        </a:rPr>
                        <a:t>Top 10 companies by postings (bar)</a:t>
                      </a:r>
                    </a:p>
                  </a:txBody>
                  <a:tcPr marT="27432" marB="27432" anchor="ctr">
                    <a:solidFill>
                      <a:srgbClr val="D6E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2342"/>
                          </a:solidFill>
                        </a:rPr>
                        <a:t>Liberty Healthcare (341) and The Job Network (318) post the most jobs.</a:t>
                      </a:r>
                    </a:p>
                  </a:txBody>
                  <a:tcPr marT="27432" marB="27432" anchor="ctr">
                    <a:solidFill>
                      <a:srgbClr val="D6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A2342"/>
                          </a:solidFill>
                        </a:rPr>
                        <a:t>Task 2</a:t>
                      </a:r>
                    </a:p>
                  </a:txBody>
                  <a:tcPr marT="27432" marB="27432" anchor="ctr"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2342"/>
                          </a:solidFill>
                        </a:rPr>
                        <a:t>Top 10 locations by postings (column)</a:t>
                      </a:r>
                    </a:p>
                  </a:txBody>
                  <a:tcPr marT="27432" marB="27432" anchor="ctr"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2342"/>
                          </a:solidFill>
                        </a:rPr>
                        <a:t>New York leads with 866 postings; Houston and Chicago follow with 565 each.</a:t>
                      </a:r>
                    </a:p>
                  </a:txBody>
                  <a:tcPr marT="27432" marB="27432" anchor="ctr">
                    <a:solidFill>
                      <a:srgbClr val="F2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A2342"/>
                          </a:solidFill>
                        </a:rPr>
                        <a:t>Task 3</a:t>
                      </a:r>
                    </a:p>
                  </a:txBody>
                  <a:tcPr marT="27432" marB="27432" anchor="ctr">
                    <a:solidFill>
                      <a:srgbClr val="D6E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2342"/>
                          </a:solidFill>
                        </a:rPr>
                        <a:t>Demand by experience level (column)</a:t>
                      </a:r>
                    </a:p>
                  </a:txBody>
                  <a:tcPr marT="27432" marB="27432" anchor="ctr">
                    <a:solidFill>
                      <a:srgbClr val="D6E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2342"/>
                          </a:solidFill>
                        </a:rPr>
                        <a:t>Mid-Senior (13,499) and Entry (11,881) make up 83% of stated-level postings.</a:t>
                      </a:r>
                    </a:p>
                  </a:txBody>
                  <a:tcPr marT="27432" marB="27432" anchor="ctr">
                    <a:solidFill>
                      <a:srgbClr val="D6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A2342"/>
                          </a:solidFill>
                        </a:rPr>
                        <a:t>Task 4</a:t>
                      </a:r>
                    </a:p>
                  </a:txBody>
                  <a:tcPr marT="27432" marB="27432" anchor="ctr"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2342"/>
                          </a:solidFill>
                        </a:rPr>
                        <a:t>Work-type mix by experience level (100% bar)</a:t>
                      </a:r>
                    </a:p>
                  </a:txBody>
                  <a:tcPr marT="27432" marB="27432" anchor="ctr"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2342"/>
                          </a:solidFill>
                        </a:rPr>
                        <a:t>Full-time leads every level (53% to 94%); Part-time peaks at Entry level (14%).</a:t>
                      </a:r>
                    </a:p>
                  </a:txBody>
                  <a:tcPr marT="27432" marB="27432" anchor="ctr">
                    <a:solidFill>
                      <a:srgbClr val="F2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A2342"/>
                          </a:solidFill>
                        </a:rPr>
                        <a:t>Task 5</a:t>
                      </a:r>
                    </a:p>
                  </a:txBody>
                  <a:tcPr marT="27432" marB="27432" anchor="ctr">
                    <a:solidFill>
                      <a:srgbClr val="D6E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2342"/>
                          </a:solidFill>
                        </a:rPr>
                        <a:t>Top 10 job titles by average salary (bar)</a:t>
                      </a:r>
                    </a:p>
                  </a:txBody>
                  <a:tcPr marT="27432" marB="27432" anchor="ctr">
                    <a:solidFill>
                      <a:srgbClr val="D6E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2342"/>
                          </a:solidFill>
                        </a:rPr>
                        <a:t>BigLaw Partner roles lead at $925K; values above $1M were excluded as errors.</a:t>
                      </a:r>
                    </a:p>
                  </a:txBody>
                  <a:tcPr marT="27432" marB="27432" anchor="ctr">
                    <a:solidFill>
                      <a:srgbClr val="D6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A2342"/>
                          </a:solidFill>
                        </a:rPr>
                        <a:t>Task 6</a:t>
                      </a:r>
                    </a:p>
                  </a:txBody>
                  <a:tcPr marT="27432" marB="27432" anchor="ctr"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2342"/>
                          </a:solidFill>
                        </a:rPr>
                        <a:t>Top 10 locations by average salary (column)</a:t>
                      </a:r>
                    </a:p>
                  </a:txBody>
                  <a:tcPr marT="27432" marB="27432" anchor="ctr"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2342"/>
                          </a:solidFill>
                        </a:rPr>
                        <a:t>Orange Park leads at $700K; small-market averages rest on one or two postings.</a:t>
                      </a:r>
                    </a:p>
                  </a:txBody>
                  <a:tcPr marT="27432" marB="27432" anchor="ctr">
                    <a:solidFill>
                      <a:srgbClr val="F2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A2342"/>
                          </a:solidFill>
                        </a:rPr>
                        <a:t>Task 7</a:t>
                      </a:r>
                    </a:p>
                  </a:txBody>
                  <a:tcPr marT="27432" marB="27432" anchor="ctr">
                    <a:solidFill>
                      <a:srgbClr val="D6E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2342"/>
                          </a:solidFill>
                        </a:rPr>
                        <a:t>Remote-allowed build-up by work type (waterfall)</a:t>
                      </a:r>
                    </a:p>
                  </a:txBody>
                  <a:tcPr marT="27432" marB="27432" anchor="ctr">
                    <a:solidFill>
                      <a:srgbClr val="D6E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2342"/>
                          </a:solidFill>
                        </a:rPr>
                        <a:t>Full-time adds 3,577 of 4,892 remote jobs (73%); Contract adds 983 (20%).</a:t>
                      </a:r>
                    </a:p>
                  </a:txBody>
                  <a:tcPr marT="27432" marB="27432" anchor="ctr">
                    <a:solidFill>
                      <a:srgbClr val="D6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A2342"/>
                          </a:solidFill>
                        </a:rPr>
                        <a:t>Task 8</a:t>
                      </a:r>
                    </a:p>
                  </a:txBody>
                  <a:tcPr marT="27432" marB="27432" anchor="ctr"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2342"/>
                          </a:solidFill>
                        </a:rPr>
                        <a:t>Demand by job family and work type (stacked bar)</a:t>
                      </a:r>
                    </a:p>
                  </a:txBody>
                  <a:tcPr marT="27432" marB="27432" anchor="ctr"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2342"/>
                          </a:solidFill>
                        </a:rPr>
                        <a:t>Engineering (4,764), Healthcare (3,818) and Sales (3,695) lead; Full-time dominates.</a:t>
                      </a:r>
                    </a:p>
                  </a:txBody>
                  <a:tcPr marT="27432" marB="27432" anchor="ctr">
                    <a:solidFill>
                      <a:srgbClr val="F2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A2342"/>
                          </a:solidFill>
                        </a:rPr>
                        <a:t>Task 9</a:t>
                      </a:r>
                    </a:p>
                  </a:txBody>
                  <a:tcPr marT="27432" marB="27432" anchor="ctr">
                    <a:solidFill>
                      <a:srgbClr val="D6E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2342"/>
                          </a:solidFill>
                        </a:rPr>
                        <a:t>Experience level by job family (stacked column)</a:t>
                      </a:r>
                    </a:p>
                  </a:txBody>
                  <a:tcPr marT="27432" marB="27432" anchor="ctr">
                    <a:solidFill>
                      <a:srgbClr val="D6E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2342"/>
                          </a:solidFill>
                        </a:rPr>
                        <a:t>Entry leads Engineering (1,972); Tech &amp; Data leans Mid-Senior (1,113 vs 400).</a:t>
                      </a:r>
                    </a:p>
                  </a:txBody>
                  <a:tcPr marT="27432" marB="27432" anchor="ctr">
                    <a:solidFill>
                      <a:srgbClr val="D6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A2342"/>
                          </a:solidFill>
                        </a:rPr>
                        <a:t>Task 10</a:t>
                      </a:r>
                    </a:p>
                  </a:txBody>
                  <a:tcPr marT="27432" marB="27432" anchor="ctr"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2342"/>
                          </a:solidFill>
                        </a:rPr>
                        <a:t>Views vs applications by job family (scatter)</a:t>
                      </a:r>
                    </a:p>
                  </a:txBody>
                  <a:tcPr marT="27432" marB="27432" anchor="ctr"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2342"/>
                          </a:solidFill>
                        </a:rPr>
                        <a:t>Tech &amp; Data stands out with 83.5K views and 21.4K applications.</a:t>
                      </a:r>
                    </a:p>
                  </a:txBody>
                  <a:tcPr marT="27432" marB="27432" anchor="ctr">
                    <a:solidFill>
                      <a:srgbClr val="F2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A2342"/>
                          </a:solidFill>
                        </a:rPr>
                        <a:t>Task 11</a:t>
                      </a:r>
                    </a:p>
                  </a:txBody>
                  <a:tcPr marT="27432" marB="27432" anchor="ctr">
                    <a:solidFill>
                      <a:srgbClr val="D6E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2342"/>
                          </a:solidFill>
                        </a:rPr>
                        <a:t>Applications per 100 views (bar)</a:t>
                      </a:r>
                    </a:p>
                  </a:txBody>
                  <a:tcPr marT="27432" marB="27432" anchor="ctr">
                    <a:solidFill>
                      <a:srgbClr val="D6E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2342"/>
                          </a:solidFill>
                        </a:rPr>
                        <a:t>Tech &amp; Data converts best (25.7); Education (4.6) and Healthcare (5.0) lowest.</a:t>
                      </a:r>
                    </a:p>
                  </a:txBody>
                  <a:tcPr marT="27432" marB="27432" anchor="ctr">
                    <a:solidFill>
                      <a:srgbClr val="D6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A2342"/>
                          </a:solidFill>
                        </a:rPr>
                        <a:t>Task 12</a:t>
                      </a:r>
                    </a:p>
                  </a:txBody>
                  <a:tcPr marT="27432" marB="27432" anchor="ctr"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2342"/>
                          </a:solidFill>
                        </a:rPr>
                        <a:t>Work-type share (pie) and demand Pareto</a:t>
                      </a:r>
                    </a:p>
                  </a:txBody>
                  <a:tcPr marT="27432" marB="27432" anchor="ctr"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2342"/>
                          </a:solidFill>
                        </a:rPr>
                        <a:t>Full-time is 79.8% of postings; the top six categories reach 85% of all postings.</a:t>
                      </a:r>
                    </a:p>
                  </a:txBody>
                  <a:tcPr marT="27432" marB="27432" anchor="ctr">
                    <a:solidFill>
                      <a:srgbClr val="F2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45">
            <a:extLst>
              <a:ext uri="{FF2B5EF4-FFF2-40B4-BE49-F238E27FC236}">
                <a16:creationId xmlns:a16="http://schemas.microsoft.com/office/drawing/2014/main" id="{33E47C41-D39A-4245-A7A3-ED0AB8507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C07AF0"/>
                </a:solidFill>
              </a:rPr>
              <a:t>Key Highlights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25CFF5-858C-4164-9FC5-90CD21240E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>
                <a:solidFill>
                  <a:srgbClr val="ECF0FB"/>
                </a:solidFill>
              </a:rPr>
              <a:t>JOB MARKET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C97396-5C5E-4112-B44F-BAEFC9E0A2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D1FC6F8-0BCD-47E9-9C64-690771D9C143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47" name="Date Placeholder 346">
            <a:extLst>
              <a:ext uri="{FF2B5EF4-FFF2-40B4-BE49-F238E27FC236}">
                <a16:creationId xmlns:a16="http://schemas.microsoft.com/office/drawing/2014/main" id="{02F3D276-B9E7-4EE4-929B-A726A0D5DC4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dirty="0">
                <a:solidFill>
                  <a:srgbClr val="ECF0FB"/>
                </a:solidFill>
              </a:rPr>
              <a:t>October 4, 2026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645F8A3-F409-4E82-902F-3686B4C01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81114" y="4533900"/>
            <a:ext cx="1849484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4785493-3983-4D5B-89C1-18CAAE0A8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676709" y="4533900"/>
            <a:ext cx="1849484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EE9FFB6-DC81-4156-AEF7-2BDD543C8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572306" y="4533900"/>
            <a:ext cx="1849484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" name="TextBox 347"/>
          <p:cNvSpPr txBox="1"/>
          <p:nvPr/>
        </p:nvSpPr>
        <p:spPr>
          <a:xfrm>
            <a:off x="685800" y="2148840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8374B"/>
                </a:solidFill>
                <a:latin typeface="Aptos"/>
              </a:rPr>
              <a:t>Four presentation-ready takeaways from the 12-task analysis</a:t>
            </a:r>
          </a:p>
        </p:txBody>
      </p:sp>
      <p:sp>
        <p:nvSpPr>
          <p:cNvPr id="349" name="Rounded Rectangle 348"/>
          <p:cNvSpPr/>
          <p:nvPr/>
        </p:nvSpPr>
        <p:spPr>
          <a:xfrm>
            <a:off x="685800" y="2743200"/>
            <a:ext cx="2514600" cy="2331720"/>
          </a:xfrm>
          <a:prstGeom prst="roundRect">
            <a:avLst/>
          </a:prstGeom>
          <a:solidFill>
            <a:srgbClr val="F8FAFD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0" name="TextBox 349"/>
          <p:cNvSpPr txBox="1"/>
          <p:nvPr/>
        </p:nvSpPr>
        <p:spPr>
          <a:xfrm>
            <a:off x="850392" y="2907792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94B73"/>
                </a:solidFill>
                <a:latin typeface="Aptos"/>
              </a:rPr>
              <a:t>01</a:t>
            </a:r>
          </a:p>
        </p:txBody>
      </p:sp>
      <p:sp>
        <p:nvSpPr>
          <p:cNvPr id="351" name="TextBox 350"/>
          <p:cNvSpPr txBox="1"/>
          <p:nvPr/>
        </p:nvSpPr>
        <p:spPr>
          <a:xfrm>
            <a:off x="850392" y="3310128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232D3C"/>
                </a:solidFill>
                <a:latin typeface="Aptos"/>
              </a:rPr>
              <a:t>Demand</a:t>
            </a:r>
          </a:p>
        </p:txBody>
      </p:sp>
      <p:sp>
        <p:nvSpPr>
          <p:cNvPr id="352" name="TextBox 351"/>
          <p:cNvSpPr txBox="1"/>
          <p:nvPr/>
        </p:nvSpPr>
        <p:spPr>
          <a:xfrm>
            <a:off x="850392" y="3767328"/>
            <a:ext cx="2148840" cy="10058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46505F"/>
                </a:solidFill>
                <a:latin typeface="Aptos"/>
              </a:rPr>
              <a:t>• New York leads with 866 postings; Houston and Chicago follow with 565 each.</a:t>
            </a:r>
          </a:p>
        </p:txBody>
      </p:sp>
      <p:sp>
        <p:nvSpPr>
          <p:cNvPr id="353" name="Rounded Rectangle 352"/>
          <p:cNvSpPr/>
          <p:nvPr/>
        </p:nvSpPr>
        <p:spPr>
          <a:xfrm>
            <a:off x="3474720" y="2743200"/>
            <a:ext cx="2514600" cy="2331720"/>
          </a:xfrm>
          <a:prstGeom prst="roundRect">
            <a:avLst/>
          </a:prstGeom>
          <a:solidFill>
            <a:srgbClr val="F8FAFD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4" name="TextBox 353"/>
          <p:cNvSpPr txBox="1"/>
          <p:nvPr/>
        </p:nvSpPr>
        <p:spPr>
          <a:xfrm>
            <a:off x="3639312" y="2907792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94B73"/>
                </a:solidFill>
                <a:latin typeface="Aptos"/>
              </a:rPr>
              <a:t>02</a:t>
            </a:r>
          </a:p>
        </p:txBody>
      </p:sp>
      <p:sp>
        <p:nvSpPr>
          <p:cNvPr id="355" name="TextBox 354"/>
          <p:cNvSpPr txBox="1"/>
          <p:nvPr/>
        </p:nvSpPr>
        <p:spPr>
          <a:xfrm>
            <a:off x="3639312" y="3310128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232D3C"/>
                </a:solidFill>
                <a:latin typeface="Aptos"/>
              </a:rPr>
              <a:t>Flexibility</a:t>
            </a:r>
          </a:p>
        </p:txBody>
      </p:sp>
      <p:sp>
        <p:nvSpPr>
          <p:cNvPr id="356" name="TextBox 355"/>
          <p:cNvSpPr txBox="1"/>
          <p:nvPr/>
        </p:nvSpPr>
        <p:spPr>
          <a:xfrm>
            <a:off x="3639312" y="3767328"/>
            <a:ext cx="2148840" cy="10058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46505F"/>
                </a:solidFill>
                <a:latin typeface="Aptos"/>
              </a:rPr>
              <a:t>• Only 12.2% of postings allow remote work, so most hiring remains on-site or unspecified.</a:t>
            </a:r>
          </a:p>
        </p:txBody>
      </p:sp>
      <p:sp>
        <p:nvSpPr>
          <p:cNvPr id="357" name="Rounded Rectangle 356"/>
          <p:cNvSpPr/>
          <p:nvPr/>
        </p:nvSpPr>
        <p:spPr>
          <a:xfrm>
            <a:off x="6263640" y="2743200"/>
            <a:ext cx="2514600" cy="2331720"/>
          </a:xfrm>
          <a:prstGeom prst="roundRect">
            <a:avLst/>
          </a:prstGeom>
          <a:solidFill>
            <a:srgbClr val="F8FAFD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8" name="TextBox 357"/>
          <p:cNvSpPr txBox="1"/>
          <p:nvPr/>
        </p:nvSpPr>
        <p:spPr>
          <a:xfrm>
            <a:off x="6428231" y="2907792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94B73"/>
                </a:solidFill>
                <a:latin typeface="Aptos"/>
              </a:rPr>
              <a:t>03</a:t>
            </a:r>
          </a:p>
        </p:txBody>
      </p:sp>
      <p:sp>
        <p:nvSpPr>
          <p:cNvPr id="359" name="TextBox 358"/>
          <p:cNvSpPr txBox="1"/>
          <p:nvPr/>
        </p:nvSpPr>
        <p:spPr>
          <a:xfrm>
            <a:off x="6428231" y="3310128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232D3C"/>
                </a:solidFill>
                <a:latin typeface="Aptos"/>
              </a:rPr>
              <a:t>Candidate interest</a:t>
            </a:r>
          </a:p>
        </p:txBody>
      </p:sp>
      <p:sp>
        <p:nvSpPr>
          <p:cNvPr id="360" name="TextBox 359"/>
          <p:cNvSpPr txBox="1"/>
          <p:nvPr/>
        </p:nvSpPr>
        <p:spPr>
          <a:xfrm>
            <a:off x="6428231" y="3767328"/>
            <a:ext cx="2148840" cy="10058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46505F"/>
                </a:solidFill>
                <a:latin typeface="Aptos"/>
              </a:rPr>
              <a:t>• Tech &amp; Data receives the strongest views and applications.</a:t>
            </a:r>
          </a:p>
        </p:txBody>
      </p:sp>
      <p:sp>
        <p:nvSpPr>
          <p:cNvPr id="361" name="Rounded Rectangle 360"/>
          <p:cNvSpPr/>
          <p:nvPr/>
        </p:nvSpPr>
        <p:spPr>
          <a:xfrm>
            <a:off x="9052559" y="2743200"/>
            <a:ext cx="2514600" cy="2331720"/>
          </a:xfrm>
          <a:prstGeom prst="roundRect">
            <a:avLst/>
          </a:prstGeom>
          <a:solidFill>
            <a:srgbClr val="F8FAFD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2" name="TextBox 361"/>
          <p:cNvSpPr txBox="1"/>
          <p:nvPr/>
        </p:nvSpPr>
        <p:spPr>
          <a:xfrm>
            <a:off x="9217151" y="2907792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94B73"/>
                </a:solidFill>
                <a:latin typeface="Aptos"/>
              </a:rPr>
              <a:t>04</a:t>
            </a:r>
          </a:p>
        </p:txBody>
      </p:sp>
      <p:sp>
        <p:nvSpPr>
          <p:cNvPr id="363" name="TextBox 362"/>
          <p:cNvSpPr txBox="1"/>
          <p:nvPr/>
        </p:nvSpPr>
        <p:spPr>
          <a:xfrm>
            <a:off x="9217151" y="3310128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232D3C"/>
                </a:solidFill>
                <a:latin typeface="Aptos"/>
              </a:rPr>
              <a:t>Conversion</a:t>
            </a:r>
          </a:p>
        </p:txBody>
      </p:sp>
      <p:sp>
        <p:nvSpPr>
          <p:cNvPr id="364" name="TextBox 363"/>
          <p:cNvSpPr txBox="1"/>
          <p:nvPr/>
        </p:nvSpPr>
        <p:spPr>
          <a:xfrm>
            <a:off x="9217151" y="3767328"/>
            <a:ext cx="2148840" cy="10058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46505F"/>
                </a:solidFill>
                <a:latin typeface="Aptos"/>
              </a:rPr>
              <a:t>• Healthcare converts only 5 applications per 100 views, indicating an engagement gap.</a:t>
            </a:r>
          </a:p>
        </p:txBody>
      </p:sp>
    </p:spTree>
    <p:extLst>
      <p:ext uri="{BB962C8B-B14F-4D97-AF65-F5344CB8AC3E}">
        <p14:creationId xmlns:p14="http://schemas.microsoft.com/office/powerpoint/2010/main" val="14236137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37160"/>
            <a:ext cx="10332720" cy="822960"/>
          </a:xfrm>
        </p:spPr>
        <p:txBody>
          <a:bodyPr wrap="square" anchor="ctr"/>
          <a:lstStyle/>
          <a:p>
            <a:pPr algn="ctr"/>
            <a:r>
              <a:rPr sz="2200" b="1" cap="none" spc="0">
                <a:solidFill>
                  <a:srgbClr val="F9D423"/>
                </a:solidFill>
              </a:rPr>
              <a:t>PROJECT 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1440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AF2FB"/>
                </a:solidFill>
                <a:latin typeface="Aptos"/>
              </a:rPr>
              <a:t>Key findings and business takeaways from all 12 tasks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5532120" cy="2194560"/>
          </a:xfrm>
          <a:prstGeom prst="roundRect">
            <a:avLst/>
          </a:prstGeom>
          <a:solidFill>
            <a:srgbClr val="123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435607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9D423"/>
                </a:solidFill>
                <a:latin typeface="Aptos"/>
              </a:rPr>
              <a:t>01  •  DEMAND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5166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141626"/>
                </a:solidFill>
                <a:latin typeface="Aptos"/>
              </a:defRPr>
            </a:pPr>
            <a:r>
              <a:rPr sz="1300">
                <a:solidFill>
                  <a:srgbClr val="EAF2FB"/>
                </a:solidFill>
              </a:rPr>
              <a:t>• 40,000 postings analysed; New York leads with 866, then Houston and Chicago (565 each).</a:t>
            </a:r>
          </a:p>
          <a:p>
            <a:pPr>
              <a:spcAft>
                <a:spcPts val="600"/>
              </a:spcAft>
              <a:defRPr sz="900">
                <a:solidFill>
                  <a:srgbClr val="141626"/>
                </a:solidFill>
                <a:latin typeface="Aptos"/>
              </a:defRPr>
            </a:pPr>
            <a:r>
              <a:rPr sz="1300">
                <a:solidFill>
                  <a:srgbClr val="EAF2FB"/>
                </a:solidFill>
              </a:rPr>
              <a:t>• Liberty Healthcare (341) and The Job Network (318) are the top hiring companies.</a:t>
            </a:r>
          </a:p>
          <a:p>
            <a:pPr>
              <a:spcAft>
                <a:spcPts val="600"/>
              </a:spcAft>
              <a:defRPr sz="900">
                <a:solidFill>
                  <a:srgbClr val="141626"/>
                </a:solidFill>
                <a:latin typeface="Aptos"/>
              </a:defRPr>
            </a:pPr>
            <a:r>
              <a:rPr sz="1300">
                <a:solidFill>
                  <a:srgbClr val="EAF2FB"/>
                </a:solidFill>
              </a:rPr>
              <a:t>• Mid-Senior (13,499) and Entry (11,881) roles make up 83% of stated-level demand.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532120" cy="2194560"/>
          </a:xfrm>
          <a:prstGeom prst="roundRect">
            <a:avLst/>
          </a:prstGeom>
          <a:solidFill>
            <a:srgbClr val="123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1435607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9D423"/>
                </a:solidFill>
                <a:latin typeface="Aptos"/>
              </a:rPr>
              <a:t>02  •  PAY &amp; WORK 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874519"/>
            <a:ext cx="5166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141626"/>
                </a:solidFill>
                <a:latin typeface="Aptos"/>
              </a:defRPr>
            </a:pPr>
            <a:r>
              <a:rPr sz="1300">
                <a:solidFill>
                  <a:srgbClr val="EAF2FB"/>
                </a:solidFill>
              </a:rPr>
              <a:t>• Full-time is 79.8% of postings; Contract is 9.6% and Part-time 7.9%.</a:t>
            </a:r>
          </a:p>
          <a:p>
            <a:pPr>
              <a:spcAft>
                <a:spcPts val="600"/>
              </a:spcAft>
              <a:defRPr sz="900">
                <a:solidFill>
                  <a:srgbClr val="141626"/>
                </a:solidFill>
                <a:latin typeface="Aptos"/>
              </a:defRPr>
            </a:pPr>
            <a:r>
              <a:rPr sz="1300">
                <a:solidFill>
                  <a:srgbClr val="EAF2FB"/>
                </a:solidFill>
              </a:rPr>
              <a:t>• Average salary is $95K across 11,651 valid salaries (values above $1M excluded).</a:t>
            </a:r>
          </a:p>
          <a:p>
            <a:pPr>
              <a:spcAft>
                <a:spcPts val="600"/>
              </a:spcAft>
              <a:defRPr sz="900">
                <a:solidFill>
                  <a:srgbClr val="141626"/>
                </a:solidFill>
                <a:latin typeface="Aptos"/>
              </a:defRPr>
            </a:pPr>
            <a:r>
              <a:rPr sz="1300">
                <a:solidFill>
                  <a:srgbClr val="EAF2FB"/>
                </a:solidFill>
              </a:rPr>
              <a:t>• Partner, surgeon and C-suite roles pay most ($515K-$925K); small-market averages are outliers.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75887"/>
            <a:ext cx="5532120" cy="2194560"/>
          </a:xfrm>
          <a:prstGeom prst="roundRect">
            <a:avLst/>
          </a:prstGeom>
          <a:solidFill>
            <a:srgbClr val="123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3785615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9D423"/>
                </a:solidFill>
                <a:latin typeface="Aptos"/>
              </a:rPr>
              <a:t>03  •  REMOTE &amp; JOB FAMILIES 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24527"/>
            <a:ext cx="5166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141626"/>
                </a:solidFill>
                <a:latin typeface="Aptos"/>
              </a:defRPr>
            </a:pPr>
            <a:r>
              <a:rPr sz="1300">
                <a:solidFill>
                  <a:srgbClr val="EAF2FB"/>
                </a:solidFill>
              </a:rPr>
              <a:t>• Only 12.2% of postings (4,892) allow remote work; Full-time adds 73% of them.</a:t>
            </a:r>
          </a:p>
          <a:p>
            <a:pPr>
              <a:spcAft>
                <a:spcPts val="600"/>
              </a:spcAft>
              <a:defRPr sz="900">
                <a:solidFill>
                  <a:srgbClr val="141626"/>
                </a:solidFill>
                <a:latin typeface="Aptos"/>
              </a:defRPr>
            </a:pPr>
            <a:r>
              <a:rPr sz="1300">
                <a:solidFill>
                  <a:srgbClr val="EAF2FB"/>
                </a:solidFill>
              </a:rPr>
              <a:t>• Engineering (4,764), Healthcare (3,818) and Sales (3,695) hold 52% of named-family demand.</a:t>
            </a:r>
          </a:p>
          <a:p>
            <a:pPr>
              <a:spcAft>
                <a:spcPts val="600"/>
              </a:spcAft>
              <a:defRPr sz="900">
                <a:solidFill>
                  <a:srgbClr val="141626"/>
                </a:solidFill>
                <a:latin typeface="Aptos"/>
              </a:defRPr>
            </a:pPr>
            <a:r>
              <a:rPr sz="1300">
                <a:solidFill>
                  <a:srgbClr val="EAF2FB"/>
                </a:solidFill>
              </a:rPr>
              <a:t>• Entry level dominates Engineering, while Tech &amp; Data leans Mid-Senior.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675887"/>
            <a:ext cx="5532120" cy="2194560"/>
          </a:xfrm>
          <a:prstGeom prst="roundRect">
            <a:avLst/>
          </a:prstGeom>
          <a:solidFill>
            <a:srgbClr val="123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3785615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9D423"/>
                </a:solidFill>
                <a:latin typeface="Aptos"/>
              </a:rPr>
              <a:t>04  •  CANDIDATE INTEREST 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224527"/>
            <a:ext cx="5166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141626"/>
                </a:solidFill>
                <a:latin typeface="Aptos"/>
              </a:defRPr>
            </a:pPr>
            <a:r>
              <a:rPr sz="1300">
                <a:solidFill>
                  <a:srgbClr val="EAF2FB"/>
                </a:solidFill>
              </a:rPr>
              <a:t>• 566,882 views and 78,710 applications: 13.9 applications per 100 views.</a:t>
            </a:r>
          </a:p>
          <a:p>
            <a:pPr>
              <a:spcAft>
                <a:spcPts val="600"/>
              </a:spcAft>
              <a:defRPr sz="900">
                <a:solidFill>
                  <a:srgbClr val="141626"/>
                </a:solidFill>
                <a:latin typeface="Aptos"/>
              </a:defRPr>
            </a:pPr>
            <a:r>
              <a:rPr sz="1300">
                <a:solidFill>
                  <a:srgbClr val="EAF2FB"/>
                </a:solidFill>
              </a:rPr>
              <a:t>• Tech &amp; Data converts best at 25.7 per 100 views (21.4K applications).</a:t>
            </a:r>
          </a:p>
          <a:p>
            <a:pPr>
              <a:spcAft>
                <a:spcPts val="600"/>
              </a:spcAft>
              <a:defRPr sz="900">
                <a:solidFill>
                  <a:srgbClr val="141626"/>
                </a:solidFill>
                <a:latin typeface="Aptos"/>
              </a:defRPr>
            </a:pPr>
            <a:r>
              <a:rPr sz="1300">
                <a:solidFill>
                  <a:srgbClr val="EAF2FB"/>
                </a:solidFill>
              </a:rPr>
              <a:t>• Education (4.6) and Healthcare (5.0) convert least, so their postings need work.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989320"/>
            <a:ext cx="11247120" cy="640080"/>
          </a:xfrm>
          <a:prstGeom prst="roundRect">
            <a:avLst/>
          </a:prstGeom>
          <a:solidFill>
            <a:srgbClr val="5BC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6053328"/>
            <a:ext cx="17373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7A1020"/>
                </a:solidFill>
                <a:latin typeface="Aptos"/>
              </a:rPr>
              <a:t>OVERALL TAKEAWAY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6035040"/>
            <a:ext cx="9281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A2342"/>
                </a:solidFill>
                <a:latin typeface="Aptos"/>
              </a:rPr>
              <a:t>Recruiters should focus on high-demand cities (New York, Houston, Chicago) and job families (Engineering, Healthcare, Sales), and show salary and remote options to lift candidate conversion.</a:t>
            </a:r>
          </a:p>
        </p:txBody>
      </p:sp>
      <p:sp>
        <p:nvSpPr>
          <p:cNvPr id="24" name="Oval 2"/>
          <p:cNvSpPr/>
          <p:nvPr/>
        </p:nvSpPr>
        <p:spPr>
          <a:xfrm>
            <a:off x="457200" y="155448"/>
            <a:ext cx="777240" cy="777240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3"/>
          <p:cNvSpPr/>
          <p:nvPr/>
        </p:nvSpPr>
        <p:spPr>
          <a:xfrm>
            <a:off x="534924" y="233172"/>
            <a:ext cx="621792" cy="621792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4"/>
          <p:cNvSpPr/>
          <p:nvPr/>
        </p:nvSpPr>
        <p:spPr>
          <a:xfrm>
            <a:off x="612647" y="310896"/>
            <a:ext cx="466344" cy="466344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5"/>
          <p:cNvSpPr/>
          <p:nvPr/>
        </p:nvSpPr>
        <p:spPr>
          <a:xfrm>
            <a:off x="690372" y="388620"/>
            <a:ext cx="310895" cy="310895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6"/>
          <p:cNvSpPr/>
          <p:nvPr/>
        </p:nvSpPr>
        <p:spPr>
          <a:xfrm>
            <a:off x="768096" y="466344"/>
            <a:ext cx="155447" cy="155447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9" name="Connector 7"/>
          <p:cNvCxnSpPr/>
          <p:nvPr/>
        </p:nvCxnSpPr>
        <p:spPr>
          <a:xfrm flipV="1">
            <a:off x="845820" y="116586"/>
            <a:ext cx="388620" cy="427482"/>
          </a:xfrm>
          <a:prstGeom prst="line">
            <a:avLst/>
          </a:prstGeom>
          <a:ln w="38100">
            <a:solidFill>
              <a:srgbClr val="5BC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EEFBA2-D2C5-483D-A977-8998D1677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868680"/>
            <a:ext cx="6949440" cy="640080"/>
          </a:xfrm>
        </p:spPr>
        <p:txBody>
          <a:bodyPr/>
          <a:lstStyle/>
          <a:p>
            <a:pPr algn="l"/>
            <a:r>
              <a:rPr lang="en-US" sz="3000" dirty="0">
                <a:solidFill>
                  <a:srgbClr val="C07AF0"/>
                </a:solidFill>
              </a:rPr>
              <a:t>Questions &amp;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481328"/>
            <a:ext cx="685800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400">
                <a:solidFill>
                  <a:srgbClr val="4AB1FE"/>
                </a:solidFill>
              </a:rPr>
              <a:t>Case study Stages 1-3 · Any questions?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920240"/>
            <a:ext cx="6858000" cy="1097280"/>
          </a:xfrm>
          <a:prstGeom prst="roundRect">
            <a:avLst>
              <a:gd name="adj" fmla="val 6000"/>
            </a:avLst>
          </a:prstGeom>
          <a:solidFill>
            <a:srgbClr val="141626"/>
          </a:solidFill>
          <a:ln>
            <a:solidFill>
              <a:srgbClr val="497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0" y="1975104"/>
            <a:ext cx="6492240" cy="9875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00" b="1">
                <a:solidFill>
                  <a:srgbClr val="4970FF"/>
                </a:solidFill>
              </a:rPr>
              <a:t>STAGE 1 · BEGINNER</a:t>
            </a:r>
          </a:p>
          <a:p>
            <a:r>
              <a:rPr sz="1300" b="1">
                <a:solidFill>
                  <a:srgbClr val="ECF0FB"/>
                </a:solidFill>
              </a:rPr>
              <a:t>Q: Which roles, companies and cities hire the most?</a:t>
            </a:r>
          </a:p>
          <a:p>
            <a:r>
              <a:rPr sz="1200">
                <a:solidFill>
                  <a:srgbClr val="ECF0FB"/>
                </a:solidFill>
              </a:rPr>
              <a:t>A: Sales Manager is the top role (228 postings), Liberty Healthcare leads named companies (341) and New York leads cities (866).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3108960"/>
            <a:ext cx="6858000" cy="1097280"/>
          </a:xfrm>
          <a:prstGeom prst="roundRect">
            <a:avLst>
              <a:gd name="adj" fmla="val 6000"/>
            </a:avLst>
          </a:prstGeom>
          <a:solidFill>
            <a:srgbClr val="141626"/>
          </a:solidFill>
          <a:ln>
            <a:solidFill>
              <a:srgbClr val="00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3163824"/>
            <a:ext cx="6492240" cy="9875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00" b="1">
                <a:solidFill>
                  <a:srgbClr val="00C4B6"/>
                </a:solidFill>
              </a:rPr>
              <a:t>STAGE 1 · BEGINNER</a:t>
            </a:r>
          </a:p>
          <a:p>
            <a:r>
              <a:rPr sz="1300" b="1">
                <a:solidFill>
                  <a:srgbClr val="ECF0FB"/>
                </a:solidFill>
              </a:rPr>
              <a:t>Q: How much salary and remote information is available?</a:t>
            </a:r>
          </a:p>
          <a:p>
            <a:r>
              <a:rPr sz="1200">
                <a:solidFill>
                  <a:srgbClr val="ECF0FB"/>
                </a:solidFill>
              </a:rPr>
              <a:t>A: Only 29.1% of postings show a valid salary and just 12.2% allow remote work, so most pay and work-mode details are missing.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4297680"/>
            <a:ext cx="6858000" cy="1097280"/>
          </a:xfrm>
          <a:prstGeom prst="roundRect">
            <a:avLst>
              <a:gd name="adj" fmla="val 6000"/>
            </a:avLst>
          </a:prstGeom>
          <a:solidFill>
            <a:srgbClr val="141626"/>
          </a:solidFill>
          <a:ln>
            <a:solidFill>
              <a:srgbClr val="9E2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4352544"/>
            <a:ext cx="6492240" cy="9875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00" b="1">
                <a:solidFill>
                  <a:srgbClr val="9E2FD5"/>
                </a:solidFill>
              </a:rPr>
              <a:t>STAGE 2 · INTERMEDIATE</a:t>
            </a:r>
          </a:p>
          <a:p>
            <a:r>
              <a:rPr sz="1300" b="1">
                <a:solidFill>
                  <a:srgbClr val="ECF0FB"/>
                </a:solidFill>
              </a:rPr>
              <a:t>Q: Who pays the most and who gets the most attention?</a:t>
            </a:r>
          </a:p>
          <a:p>
            <a:r>
              <a:rPr sz="1200">
                <a:solidFill>
                  <a:srgbClr val="ECF0FB"/>
                </a:solidFill>
              </a:rPr>
              <a:t>A: BigLaw Partner ($925K) tops average pay (values above $1M excluded). Cardone Ventures gets the most views among named companies (6,116); views and applies correlate at 0.54.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5486400"/>
            <a:ext cx="6858000" cy="1097280"/>
          </a:xfrm>
          <a:prstGeom prst="roundRect">
            <a:avLst>
              <a:gd name="adj" fmla="val 6000"/>
            </a:avLst>
          </a:prstGeom>
          <a:solidFill>
            <a:srgbClr val="141626"/>
          </a:solidFill>
          <a:ln>
            <a:solidFill>
              <a:srgbClr val="F2A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0" y="5541264"/>
            <a:ext cx="6492240" cy="9875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00" b="1">
                <a:solidFill>
                  <a:srgbClr val="F2A541"/>
                </a:solidFill>
              </a:rPr>
              <a:t>STAGE 3 · ADVANCED</a:t>
            </a:r>
          </a:p>
          <a:p>
            <a:r>
              <a:rPr sz="1300" b="1">
                <a:solidFill>
                  <a:srgbClr val="ECF0FB"/>
                </a:solidFill>
              </a:rPr>
              <a:t>Q: What should recruiters do?</a:t>
            </a:r>
          </a:p>
          <a:p>
            <a:r>
              <a:rPr sz="1200">
                <a:solidFill>
                  <a:srgbClr val="ECF0FB"/>
                </a:solidFill>
              </a:rPr>
              <a:t>A: Focus on New York, Houston and Chicago, prioritise Engineering, Healthcare and Sales, and show salaries and remote options to lift applications.</a:t>
            </a:r>
          </a:p>
        </p:txBody>
      </p:sp>
    </p:spTree>
    <p:extLst>
      <p:ext uri="{BB962C8B-B14F-4D97-AF65-F5344CB8AC3E}">
        <p14:creationId xmlns:p14="http://schemas.microsoft.com/office/powerpoint/2010/main" val="37164961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9EF1D37D-7D53-43D9-B054-3B3A36C7C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7AF0"/>
                </a:solidFill>
              </a:rPr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B54C36-E55C-4D10-96EB-21DBB6481D7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solidFill>
                  <a:srgbClr val="ECF0FB"/>
                </a:solidFill>
              </a:rPr>
              <a:t>Presented by: Siddique Amrin</a:t>
            </a:r>
          </a:p>
          <a:p>
            <a:r>
              <a:rPr lang="en-US" dirty="0">
                <a:solidFill>
                  <a:srgbClr val="ECF0FB"/>
                </a:solidFill>
              </a:rPr>
              <a:t>Job Market Analysis</a:t>
            </a:r>
          </a:p>
          <a:p>
            <a:r>
              <a:rPr lang="en-US" dirty="0">
                <a:solidFill>
                  <a:srgbClr val="ECF0FB"/>
                </a:solidFill>
              </a:rPr>
              <a:t>Excel Dashboard Course-End Project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C259BDD-35DF-471C-9AF0-8580048617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>
                <a:solidFill>
                  <a:srgbClr val="ECF0FB"/>
                </a:solidFill>
              </a:rPr>
              <a:t>JOB MARKET ANALYSIS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D185F1A6-517F-4333-A04B-A1833CCBA4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D1FC6F8-0BCD-47E9-9C64-690771D9C143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A6332EFB-A5F4-469F-9C70-AB8197068B1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dirty="0">
                <a:solidFill>
                  <a:srgbClr val="ECF0FB"/>
                </a:solidFill>
              </a:rPr>
              <a:t>October 4, 2026</a:t>
            </a:r>
          </a:p>
        </p:txBody>
      </p:sp>
    </p:spTree>
    <p:extLst>
      <p:ext uri="{BB962C8B-B14F-4D97-AF65-F5344CB8AC3E}">
        <p14:creationId xmlns:p14="http://schemas.microsoft.com/office/powerpoint/2010/main" val="2806944598"/>
      </p:ext>
    </p:extLst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Riblet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/>
          </a:solidFill>
          <a:prstDash val="solid"/>
        </a:ln>
        <a:ln w="58420" cap="flat" cmpd="thickThin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27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l"/>
          </a:scene3d>
          <a:sp3d prstMaterial="flat">
            <a:bevelT w="31750" h="63500" prst="riblet"/>
          </a:sp3d>
        </a:effectStyle>
        <a:effectStyle>
          <a:effectLst>
            <a:outerShdw blurRad="50800" dist="38100" dir="27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l"/>
          </a:scene3d>
          <a:sp3d prstMaterial="flat">
            <a:bevelT w="57150" h="114300" prst="ribl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B8A4BC3-D1CE-4BB2-9C42-D67FD92CAF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71989D7-CF02-4DC5-9433-98B600ACA0D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6C2B339A-BBCD-4BF4-A3FE-AE1F9B12F71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2491</Words>
  <Application>Microsoft Office PowerPoint</Application>
  <PresentationFormat>Widescreen</PresentationFormat>
  <Paragraphs>295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Arial</vt:lpstr>
      <vt:lpstr>Arial Nova Light</vt:lpstr>
      <vt:lpstr>Calibri</vt:lpstr>
      <vt:lpstr>Courier New</vt:lpstr>
      <vt:lpstr>Dark Gradient</vt:lpstr>
      <vt:lpstr>Job Market Analysis</vt:lpstr>
      <vt:lpstr>Analyse Job Market Trends &amp; Workforce Demand (Recruitment Analytics)</vt:lpstr>
      <vt:lpstr>Project Flow (Methodology)</vt:lpstr>
      <vt:lpstr>DATASET INFORMATION</vt:lpstr>
      <vt:lpstr>BUSINESS OBJECTIVES &amp; TASKS</vt:lpstr>
      <vt:lpstr>OBJECTIVE 1 :- Evaluate Hiring Demand Across Companies, Locations and Experience Levels</vt:lpstr>
      <vt:lpstr>OBJECTIVE 1 :- Evaluate Hiring Demand Across Companies, Locations and Experience Levels</vt:lpstr>
      <vt:lpstr>OBJECTIVE 2 :- Analyze Salary Patterns, Remote Work and Job-Family Demand</vt:lpstr>
      <vt:lpstr>OBJECTIVE 2 :- Analyze Salary Patterns, Remote Work and Job-Family Demand</vt:lpstr>
      <vt:lpstr>OBJECTIVE 3 :- Compare Job Families on Experience, Candidate Interest and Demand Concentration</vt:lpstr>
      <vt:lpstr>OBJECTIVE 3 :- Compare Job Families on Experience, Candidate Interest and Demand Concentration</vt:lpstr>
      <vt:lpstr>TASK 12 :- Share of Postings by Work Type and Concentration of Demand by Job Family</vt:lpstr>
      <vt:lpstr>PowerPoint Presentation</vt:lpstr>
      <vt:lpstr>SUMMARY OF ALL 12 TASKS</vt:lpstr>
      <vt:lpstr>Key Highlights</vt:lpstr>
      <vt:lpstr>PROJECT CONCLUSION</vt:lpstr>
      <vt:lpstr>Questions &amp; Answers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3</cp:revision>
  <dcterms:created xsi:type="dcterms:W3CDTF">2026-10-03T19:00:52Z</dcterms:created>
  <dcterms:modified xsi:type="dcterms:W3CDTF">2026-10-08T10:53:47Z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